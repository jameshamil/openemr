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45d5df421644bd" /><Relationship Type="http://schemas.openxmlformats.org/officeDocument/2006/relationships/extended-properties" Target="/docProps/app.xml" Id="R1c7f7d01c5974699" /><Relationship Type="http://schemas.openxmlformats.org/officeDocument/2006/relationships/officeDocument" Target="/ppt/presentation.xml" Id="R416dff9e40a44f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56d4493f0c4913"/>
  </p:sldMasterIdLst>
  <p:notesMasterIdLst>
    <p:notesMasterId xmlns:r="http://schemas.openxmlformats.org/officeDocument/2006/relationships" r:id="R904bdd784aae4734"/>
  </p:notesMasterIdLst>
  <p:sldIdLst>
    <p:sldId xmlns:r="http://schemas.openxmlformats.org/officeDocument/2006/relationships" id="256" r:id="Rba191fab8fa3428e"/>
    <p:sldId xmlns:r="http://schemas.openxmlformats.org/officeDocument/2006/relationships" id="257" r:id="Re53ac3bb2552472d"/>
    <p:sldId xmlns:r="http://schemas.openxmlformats.org/officeDocument/2006/relationships" id="258" r:id="R817d77b445c74e2b"/>
    <p:sldId xmlns:r="http://schemas.openxmlformats.org/officeDocument/2006/relationships" id="259" r:id="Rc4a808790940496d"/>
    <p:sldId xmlns:r="http://schemas.openxmlformats.org/officeDocument/2006/relationships" id="260" r:id="R263fcbcb59c24e1d"/>
    <p:sldId xmlns:r="http://schemas.openxmlformats.org/officeDocument/2006/relationships" id="261" r:id="R28190e14ad744c6b"/>
    <p:sldId xmlns:r="http://schemas.openxmlformats.org/officeDocument/2006/relationships" id="262" r:id="R0c7aa78ea2c74d25"/>
    <p:sldId xmlns:r="http://schemas.openxmlformats.org/officeDocument/2006/relationships" id="263" r:id="R794c1985effa4f2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6d4493f0c4913" /><Relationship Type="http://schemas.openxmlformats.org/officeDocument/2006/relationships/theme" Target="/ppt/theme/theme1.xml" Id="Rba321dcc40ca499b" /><Relationship Type="http://schemas.openxmlformats.org/officeDocument/2006/relationships/notesMaster" Target="/ppt/notesMasters/notesMaster1.xml" Id="R904bdd784aae4734" /><Relationship Type="http://schemas.openxmlformats.org/officeDocument/2006/relationships/presProps" Target="/ppt/presProps.xml" Id="R02b801b21f22473e" /><Relationship Type="http://schemas.openxmlformats.org/officeDocument/2006/relationships/viewProps" Target="/ppt/viewProps.xml" Id="R58774f3b0fde47fa" /><Relationship Type="http://schemas.openxmlformats.org/officeDocument/2006/relationships/tableStyles" Target="/ppt/tableStyles.xml" Id="Red25f6b707b24a8a" /><Relationship Type="http://schemas.openxmlformats.org/officeDocument/2006/relationships/slide" Target="/ppt/slides/slide1.xml" Id="Rba191fab8fa3428e" /><Relationship Type="http://schemas.openxmlformats.org/officeDocument/2006/relationships/slide" Target="/ppt/slides/slide2.xml" Id="Re53ac3bb2552472d" /><Relationship Type="http://schemas.openxmlformats.org/officeDocument/2006/relationships/slide" Target="/ppt/slides/slide3.xml" Id="R817d77b445c74e2b" /><Relationship Type="http://schemas.openxmlformats.org/officeDocument/2006/relationships/slide" Target="/ppt/slides/slide4.xml" Id="Rc4a808790940496d" /><Relationship Type="http://schemas.openxmlformats.org/officeDocument/2006/relationships/slide" Target="/ppt/slides/slide5.xml" Id="R263fcbcb59c24e1d" /><Relationship Type="http://schemas.openxmlformats.org/officeDocument/2006/relationships/slide" Target="/ppt/slides/slide6.xml" Id="R28190e14ad744c6b" /><Relationship Type="http://schemas.openxmlformats.org/officeDocument/2006/relationships/slide" Target="/ppt/slides/slide7.xml" Id="R0c7aa78ea2c74d25" /><Relationship Type="http://schemas.openxmlformats.org/officeDocument/2006/relationships/slide" Target="/ppt/slides/slide8.xml" Id="R794c1985effa4f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7eba0f39d0c4c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021023546b4a20" /><Relationship Type="http://schemas.openxmlformats.org/officeDocument/2006/relationships/notesMaster" Target="/ppt/notesMasters/notesMaster1.xml" Id="R8153d31368534c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417fda1de34290" /><Relationship Type="http://schemas.openxmlformats.org/officeDocument/2006/relationships/notesMaster" Target="/ppt/notesMasters/notesMaster1.xml" Id="Rb6f4ed7190b94a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ff70da064a41e1" /><Relationship Type="http://schemas.openxmlformats.org/officeDocument/2006/relationships/notesMaster" Target="/ppt/notesMasters/notesMaster1.xml" Id="Ra10cb24392b340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475f23a0af48a0" /><Relationship Type="http://schemas.openxmlformats.org/officeDocument/2006/relationships/notesMaster" Target="/ppt/notesMasters/notesMaster1.xml" Id="R27f68b3450be41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ad79c51f124ee5" /><Relationship Type="http://schemas.openxmlformats.org/officeDocument/2006/relationships/notesMaster" Target="/ppt/notesMasters/notesMaster1.xml" Id="R295b662ccf7c4d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e4418b1d434fa3" /><Relationship Type="http://schemas.openxmlformats.org/officeDocument/2006/relationships/notesMaster" Target="/ppt/notesMasters/notesMaster1.xml" Id="R96d45c9f115949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acdc814f114a06" /><Relationship Type="http://schemas.openxmlformats.org/officeDocument/2006/relationships/notesMaster" Target="/ppt/notesMasters/notesMaster1.xml" Id="Rb54aafd5b15b40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0ff32cf604449d" /><Relationship Type="http://schemas.openxmlformats.org/officeDocument/2006/relationships/notesMaster" Target="/ppt/notesMasters/notesMaster1.xml" Id="R279ec89a04054c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this as a clinical safety architecture, not just an AI feature.</a:t>
            </a:r>
          </a:p>
          <a:p xmlns:a="http://schemas.openxmlformats.org/drawingml/2006/main">
            <a:r>
              <a:t>  The core idea is a hospitalist rounding assistant that helps prepare a patient-specific brief and answer follow-up questions, but only when every clinical claim is traceable back to OpenEMR evidence.</a:t>
            </a:r>
          </a:p>
          <a:p xmlns:a="http://schemas.openxmlformats.org/drawingml/2006/main">
            <a:r>
              <a:t>  The defense is about why we draw the trust boundary where we do, why the LLM is boxed in, and how failures become visible instead of hidden.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sets up the stakes.</a:t>
            </a:r>
          </a:p>
          <a:p xmlns:a="http://schemas.openxmlformats.org/drawingml/2006/main">
            <a:r>
              <a:t>  We are not building a general chatbot where the model can improvise from a giant chart dump.</a:t>
            </a:r>
          </a:p>
          <a:p xmlns:a="http://schemas.openxmlformats.org/drawingml/2006/main">
            <a:r>
              <a:t>  Hospitalists need quick orientation, but the output has to be auditable because even small unsupported claims can change a clinical decision.</a:t>
            </a:r>
          </a:p>
          <a:p xmlns:a="http://schemas.openxmlformats.org/drawingml/2006/main">
            <a:r>
              <a:t>  That is why the architecture is accuracy-first: partial verified answers with warnings are acceptable; fast unverifiable answers are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scope is deliberately tight.</a:t>
            </a:r>
          </a:p>
          <a:p xmlns:a="http://schemas.openxmlformats.org/drawingml/2006/main">
            <a:r>
              <a:t>  We picked one user and one workflow: a hospitalist getting ready for rounds.</a:t>
            </a:r>
          </a:p>
          <a:p xmlns:a="http://schemas.openxmlformats.org/drawingml/2006/main">
            <a:r>
              <a:t>  The system can summarize, answer follow-ups, and refuse or reframe unsafe treatment requests.</a:t>
            </a:r>
          </a:p>
          <a:p xmlns:a="http://schemas.openxmlformats.org/drawingml/2006/main">
            <a:r>
              <a:t>  It cannot write orders, invent a plan, or jump to another patient based on conversation.</a:t>
            </a:r>
          </a:p>
          <a:p xmlns:a="http://schemas.openxmlformats.org/drawingml/2006/main">
            <a:r>
              <a:t>  That narrowness is a feature: it gives us a stable safety case and a realistic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architectural defense.</a:t>
            </a:r>
          </a:p>
          <a:p xmlns:a="http://schemas.openxmlformats.org/drawingml/2006/main">
            <a:r>
              <a:t>  We could have put everything in PHP, but that makes LLM orchestration and provider evolution awkward.</a:t>
            </a:r>
          </a:p>
          <a:p xmlns:a="http://schemas.openxmlformats.org/drawingml/2006/main">
            <a:r>
              <a:t>  We could have built a standalone agent, but that moves too much clinical authority outside OpenEMR.</a:t>
            </a:r>
          </a:p>
          <a:p xmlns:a="http://schemas.openxmlformats.org/drawingml/2006/main">
            <a:r>
              <a:t>  The hybrid design keeps OpenEMR responsible for identity, authorization, evidence collection, and patient-linked audit.</a:t>
            </a:r>
          </a:p>
          <a:p xmlns:a="http://schemas.openxmlformats.org/drawingml/2006/main">
            <a:r>
              <a:t>  The sidecar is powerful enough to structure and verify the response, but it is intentionally unable to browse the chart on its 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room through the request path.</a:t>
            </a:r>
          </a:p>
          <a:p xmlns:a="http://schemas.openxmlformats.org/drawingml/2006/main">
            <a:r>
              <a:t>  The browser never talks directly to the sidecar or the model.</a:t>
            </a:r>
          </a:p>
          <a:p xmlns:a="http://schemas.openxmlformats.org/drawingml/2006/main">
            <a:r>
              <a:t>  OpenEMR validates the user and patient, applies rate limiting, and assembles the evidence bundle.</a:t>
            </a:r>
          </a:p>
          <a:p xmlns:a="http://schemas.openxmlformats.org/drawingml/2006/main">
            <a:r>
              <a:t>  The sidecar then has one job: turn that bounded bundle into structured output and verify it.</a:t>
            </a:r>
          </a:p>
          <a:p xmlns:a="http://schemas.openxmlformats.org/drawingml/2006/main">
            <a:r>
              <a:t>  The important performance nuance is first useful response, not total chart exhaustion.</a:t>
            </a:r>
          </a:p>
          <a:p xmlns:a="http://schemas.openxmlformats.org/drawingml/2006/main">
            <a:r>
              <a:t>  If collection times out or an adapter is missing, the answer can still be partial, but the warning is explicit.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why the sidecar is more than a prompt wrapper.</a:t>
            </a:r>
          </a:p>
          <a:p xmlns:a="http://schemas.openxmlformats.org/drawingml/2006/main">
            <a:r>
              <a:t>  The model can generate a useful clinical narrative, but the verifier decides what is allowed to appear as a clinical claim.</a:t>
            </a:r>
          </a:p>
          <a:p xmlns:a="http://schemas.openxmlformats.org/drawingml/2006/main">
            <a:r>
              <a:t>  A citation label alone is too weak, because the model can cite the wrong thing.</a:t>
            </a:r>
          </a:p>
          <a:p xmlns:a="http://schemas.openxmlformats.org/drawingml/2006/main">
            <a:r>
              <a:t>  Our claim must map to a record type, field path or text span, value, and timestamp in the evidence bundle.</a:t>
            </a:r>
          </a:p>
          <a:p xmlns:a="http://schemas.openxmlformats.org/drawingml/2006/main">
            <a:r>
              <a:t>  If that proof is missing, the system either marks the answer partial, refuses, or fails visibly.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the practical engineering controls come together.</a:t>
            </a:r>
          </a:p>
          <a:p xmlns:a="http://schemas.openxmlformats.org/drawingml/2006/main">
            <a:r>
              <a:t>  Patient context resets on switch, because conversation memory cannot follow a clinician into a different chart.</a:t>
            </a:r>
          </a:p>
          <a:p xmlns:a="http://schemas.openxmlformats.org/drawingml/2006/main">
            <a:r>
              <a:t>  Secrets stay on the server side, and the browser never receives sidecar or LLM credentials.</a:t>
            </a:r>
          </a:p>
          <a:p xmlns:a="http://schemas.openxmlformats.org/drawingml/2006/main">
            <a:r>
              <a:t>  OpenEMR keeps the clinical audit trail, while the sidecar keeps only PHI-safe technical traces.</a:t>
            </a:r>
          </a:p>
          <a:p xmlns:a="http://schemas.openxmlformats.org/drawingml/2006/main">
            <a:r>
              <a:t>  The test plan mirrors the risk model: unsupported citation, missing data, prompt injection, unauthorized patient, and collector failure all need smoke evals.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defense in one sentence: this is a constrained evidence system, not an autonomous clinician.</a:t>
            </a:r>
          </a:p>
          <a:p xmlns:a="http://schemas.openxmlformats.org/drawingml/2006/main">
            <a:r>
              <a:t>  The hybrid split is the key: OpenEMR remains the trusted clinical boundary, while the sidecar handles the parts that change quickly in the AI stack.</a:t>
            </a:r>
          </a:p>
          <a:p xmlns:a="http://schemas.openxmlformats.org/drawingml/2006/main">
            <a:r>
              <a:t>  OpenAI is the v1 provider because structured outputs help us enforce schemas, but the provider is abstracted and we are not claiming the model is medically safe on its own.</a:t>
            </a:r>
          </a:p>
          <a:p xmlns:a="http://schemas.openxmlformats.org/drawingml/2006/main">
            <a:r>
              <a:t>  The safety comes from bounded evidence, verification, explicit warnings, and human decision-making.</a:t>
            </a:r>
          </a:p>
          <a:p xmlns:a="http://schemas.openxmlformats.org/drawingml/2006/main">
            <a:r>
              <a:t>  End with the product promise: say less, cite precisely, warn clearly, or refuse.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a21fa865b4e3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111c0d5be1f48ca" /><Relationship Type="http://schemas.openxmlformats.org/officeDocument/2006/relationships/slideLayout" Target="/ppt/slideLayouts/slideLayout2.xml" Id="R5283ecccc0974b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83ecccc0974b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2acbb6106649d6" /><Relationship Type="http://schemas.openxmlformats.org/officeDocument/2006/relationships/notesSlide" Target="/ppt/notesSlides/notesSlide1.xml" Id="Rc34c0589452243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be810eb0ca4318" /><Relationship Type="http://schemas.openxmlformats.org/officeDocument/2006/relationships/notesSlide" Target="/ppt/notesSlides/notesSlide2.xml" Id="Re2bb886040af44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4d6689ec874f30" /><Relationship Type="http://schemas.openxmlformats.org/officeDocument/2006/relationships/notesSlide" Target="/ppt/notesSlides/notesSlide3.xml" Id="R8428d2404b8a4c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362f90d73a4dca" /><Relationship Type="http://schemas.openxmlformats.org/officeDocument/2006/relationships/notesSlide" Target="/ppt/notesSlides/notesSlide4.xml" Id="R0e7359f86f5341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de82ffff7a4fbb" /><Relationship Type="http://schemas.openxmlformats.org/officeDocument/2006/relationships/notesSlide" Target="/ppt/notesSlides/notesSlide5.xml" Id="R397a5abd2f5342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a859de29de494d" /><Relationship Type="http://schemas.openxmlformats.org/officeDocument/2006/relationships/notesSlide" Target="/ppt/notesSlides/notesSlide6.xml" Id="R60e4e84bcd204e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7a5462158e44dc" /><Relationship Type="http://schemas.openxmlformats.org/officeDocument/2006/relationships/notesSlide" Target="/ppt/notesSlides/notesSlide7.xml" Id="Ra18a2221547042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cdd80f029f472e" /><Relationship Type="http://schemas.openxmlformats.org/officeDocument/2006/relationships/notesSlide" Target="/ppt/notesSlides/notesSlide8.xml" Id="R5157a01e2ab442b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E426DB32-2889-41D3-ABF8-3F1B21F0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chip-agentforge-openemr">
            <a:extLst xmlns:a="http://schemas.openxmlformats.org/drawingml/2006/main">
              <a:ext uri="{FF2B5EF4-FFF2-40B4-BE49-F238E27FC236}">
                <a16:creationId xmlns:a16="http://schemas.microsoft.com/office/drawing/2014/main" id="{81FFB2DB-B977-43B9-8657-7145CC3F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2510028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5F0"/>
          </a:solidFill>
          <a:ln xmlns:a="http://schemas.openxmlformats.org/drawingml/2006/main" w="19050">
            <a:solidFill>
              <a:srgbClr val="0D3B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CDFDC-8A34-4ADC-B591-97B4391A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D3B2E"/>
                </a:solidFill>
              </a:defRPr>
            </a:pPr>
            <a:r>
              <a:rPr sz="1425" b="1" i="0">
                <a:solidFill>
                  <a:srgbClr val="0D3B2E"/>
                </a:solidFill>
              </a:rPr>
              <a:t>AgentForge + OpenEMR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8A9F2-4516-4F66-A978-06585435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685800"/>
            <a:ext cx="2114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5D6D68"/>
                </a:solidFill>
              </a:defRPr>
            </a:pPr>
            <a:r>
              <a:rPr sz="1650" b="1" i="0">
                <a:solidFill>
                  <a:srgbClr val="5D6D68"/>
                </a:solidFill>
              </a:rPr>
              <a:t>Architecture Defense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050599FA-BF32-4770-8E23-0932C896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63055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 i="0">
                <a:solidFill>
                  <a:srgbClr val="0D3B2E"/>
                </a:solidFill>
              </a:defRPr>
            </a:pPr>
            <a:r>
              <a:rPr sz="6450" b="1" i="0">
                <a:solidFill>
                  <a:srgbClr val="0D3B2E"/>
                </a:solidFill>
              </a:rPr>
              <a:t>Clinical Co-Pilot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DC846D8B-FDDE-4774-8133-D36658A3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8191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6231E"/>
                </a:solidFill>
              </a:defRPr>
            </a:pPr>
            <a:r>
              <a:rPr sz="2700" b="0" i="0">
                <a:solidFill>
                  <a:srgbClr val="16231E"/>
                </a:solidFill>
              </a:rPr>
              <a:t>A source-backed hospitalist rounding assistant inside OpenEMR</a:t>
            </a:r>
          </a:p>
        </p:txBody>
      </p:sp>
      <p:sp>
        <p:nvSpPr>
          <p:cNvPr id="7" name="title-rule">
            <a:extLst xmlns:a="http://schemas.openxmlformats.org/drawingml/2006/main">
              <a:ext uri="{FF2B5EF4-FFF2-40B4-BE49-F238E27FC236}">
                <a16:creationId xmlns:a16="http://schemas.microsoft.com/office/drawing/2014/main" id="{6B930868-1893-4EB4-9002-4B8C40CB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293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22B"/>
          </a:solidFill>
          <a:ln xmlns:a="http://schemas.openxmlformats.org/drawingml/2006/main" w="0">
            <a:solidFill>
              <a:srgbClr val="C792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39717-948D-4290-9D62-ED188A5B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82100"/>
            <a:ext cx="2800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D6D68"/>
                </a:solidFill>
              </a:defRPr>
            </a:pPr>
            <a:r>
              <a:rPr sz="1650" b="0" i="0">
                <a:solidFill>
                  <a:srgbClr val="5D6D68"/>
                </a:solidFill>
              </a:rPr>
              <a:t>Five-minute technical defense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E7611CD-6B4C-44BA-80F7-84E511DD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4488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E8F89"/>
                </a:solidFill>
              </a:defRPr>
            </a:pPr>
            <a:r>
              <a:rPr sz="1500" b="1" i="0">
                <a:solidFill>
                  <a:srgbClr val="7E8F8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075871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192906F7-F66C-46E1-A04F-F2EF9A1E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F6457B9-8370-4288-8EAE-AA31579C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7C80"/>
                </a:solidFill>
              </a:defRPr>
            </a:pPr>
            <a:r>
              <a:rPr sz="1500" b="1" i="0">
                <a:solidFill>
                  <a:srgbClr val="167C80"/>
                </a:solidFill>
              </a:rPr>
              <a:t>Problem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595F11-F1E4-4B45-A47E-A6E9E9A4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35826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16231E"/>
                </a:solidFill>
              </a:defRPr>
            </a:pPr>
            <a:r>
              <a:rPr sz="4200" b="1" i="0">
                <a:solidFill>
                  <a:srgbClr val="16231E"/>
                </a:solidFill>
              </a:rPr>
              <a:t>The hard part is not generating text. It is earning trust under time pressure.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DD3741-60A2-4918-9CD2-8435BD27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2553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D6D68"/>
                </a:solidFill>
              </a:defRPr>
            </a:pPr>
            <a:r>
              <a:rPr sz="2100" b="0" i="0">
                <a:solidFill>
                  <a:srgbClr val="5D6D68"/>
                </a:solidFill>
              </a:rPr>
              <a:t>Before rounds, clinicians need the right chart changes quickly. A fluent unsupported answer is worse than no answer.</a:t>
            </a:r>
          </a:p>
        </p:txBody>
      </p:sp>
      <p:sp>
        <p:nvSpPr>
          <p:cNvPr id="5" name="claim-time-pressure">
            <a:extLst xmlns:a="http://schemas.openxmlformats.org/drawingml/2006/main">
              <a:ext uri="{FF2B5EF4-FFF2-40B4-BE49-F238E27FC236}">
                <a16:creationId xmlns:a16="http://schemas.microsoft.com/office/drawing/2014/main" id="{CFE26275-60D0-41A4-9450-773E0D7C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1390"/>
            <a:ext cx="5549900" cy="545211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F8FEFD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2C04E-7E4E-4C01-922C-6D077040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67C80"/>
                </a:solidFill>
              </a:defRPr>
            </a:pPr>
            <a:r>
              <a:rPr sz="2175" b="1" i="0">
                <a:solidFill>
                  <a:srgbClr val="167C80"/>
                </a:solidFill>
              </a:rPr>
              <a:t>Time pressure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18F91-7393-44BB-9027-AA787D83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Rounds create a narrow window to absorb overnight notes, active meds, vitals, labs, and missing data.</a:t>
            </a:r>
          </a:p>
        </p:txBody>
      </p:sp>
      <p:sp>
        <p:nvSpPr>
          <p:cNvPr id="8" name="claim-chart-fragmentation">
            <a:extLst xmlns:a="http://schemas.openxmlformats.org/drawingml/2006/main">
              <a:ext uri="{FF2B5EF4-FFF2-40B4-BE49-F238E27FC236}">
                <a16:creationId xmlns:a16="http://schemas.microsoft.com/office/drawing/2014/main" id="{6E6479E9-7EFE-4FB4-A6CB-6A2A6149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50" y="3501390"/>
            <a:ext cx="5549900" cy="545211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FBFDFC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73BC8-04EC-4987-B591-89BF51D6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3380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D3B2E"/>
                </a:solidFill>
              </a:defRPr>
            </a:pPr>
            <a:r>
              <a:rPr sz="2175" b="1" i="0">
                <a:solidFill>
                  <a:srgbClr val="0D3B2E"/>
                </a:solidFill>
              </a:rPr>
              <a:t>Chart fragmentation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B56E1-49A8-49E9-B4D2-C30BFF62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719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Relevant evidence lives across encounters, orders, notes, labs, and medication lists.</a:t>
            </a:r>
          </a:p>
        </p:txBody>
      </p:sp>
      <p:sp>
        <p:nvSpPr>
          <p:cNvPr id="11" name="claim-clinical-risk">
            <a:extLst xmlns:a="http://schemas.openxmlformats.org/drawingml/2006/main">
              <a:ext uri="{FF2B5EF4-FFF2-40B4-BE49-F238E27FC236}">
                <a16:creationId xmlns:a16="http://schemas.microsoft.com/office/drawing/2014/main" id="{728CFC54-31B7-4F2A-AC64-E3655315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3501390"/>
            <a:ext cx="5549900" cy="545211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FFF9F8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1040E-A4A9-48E3-B0C7-DFCE98AA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73380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B8453C"/>
                </a:solidFill>
              </a:defRPr>
            </a:pPr>
            <a:r>
              <a:rPr sz="2175" b="1" i="0">
                <a:solidFill>
                  <a:srgbClr val="B8453C"/>
                </a:solidFill>
              </a:rPr>
              <a:t>Clinical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34779-F06E-4A80-9A54-A35C1193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1719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If the system cannot cite the record, warn about gaps, or refuse unsafe requests, it should not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68C03-2A8E-40D3-958E-805090FF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91650"/>
            <a:ext cx="9696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D3B2E"/>
                </a:solidFill>
              </a:defRPr>
            </a:pPr>
            <a:r>
              <a:rPr sz="1875" b="1" i="0">
                <a:solidFill>
                  <a:srgbClr val="0D3B2E"/>
                </a:solidFill>
              </a:rPr>
              <a:t>Design target: help the physician decide faster without becoming the decision-maker.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F4AAEBE-C854-4922-A50B-3417A867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4297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E8F89"/>
                </a:solidFill>
              </a:defRPr>
            </a:pPr>
            <a:r>
              <a:rPr sz="1500" b="1" i="0">
                <a:solidFill>
                  <a:srgbClr val="7E8F8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240027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AC32C290-0FAC-4633-8B7D-D8A0E3E3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9F0B454-0FD8-4088-8074-9F4A9E46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7C80"/>
                </a:solidFill>
              </a:defRPr>
            </a:pPr>
            <a:r>
              <a:rPr sz="1500" b="1" i="0">
                <a:solidFill>
                  <a:srgbClr val="167C80"/>
                </a:solidFill>
              </a:rPr>
              <a:t>V1 Scope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C2E080-5411-44DC-98EA-F69F6903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2020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16231E"/>
                </a:solidFill>
              </a:defRPr>
            </a:pPr>
            <a:r>
              <a:rPr sz="4200" b="1" i="0">
                <a:solidFill>
                  <a:srgbClr val="16231E"/>
                </a:solidFill>
              </a:rPr>
              <a:t>Narrow user, narrow moment, narrow authority.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98DB0F5-D91D-4ACB-B14D-21B7FC5D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9391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D6D68"/>
                </a:solidFill>
              </a:defRPr>
            </a:pPr>
            <a:r>
              <a:rPr sz="2100" b="0" i="0">
                <a:solidFill>
                  <a:srgbClr val="5D6D68"/>
                </a:solidFill>
              </a:rPr>
              <a:t>The first version serves a hospitalist preparing for rounds on a selected patient.</a:t>
            </a:r>
          </a:p>
        </p:txBody>
      </p:sp>
      <p:sp>
        <p:nvSpPr>
          <p:cNvPr id="5" name="node-1-pre-round-brief">
            <a:extLst xmlns:a="http://schemas.openxmlformats.org/drawingml/2006/main">
              <a:ext uri="{FF2B5EF4-FFF2-40B4-BE49-F238E27FC236}">
                <a16:creationId xmlns:a16="http://schemas.microsoft.com/office/drawing/2014/main" id="{4F1106B9-40C3-4233-A707-D72C8258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3170"/>
            <a:ext cx="5410200" cy="5372100"/>
          </a:xfrm>
          <a:prstGeom xmlns:a="http://schemas.openxmlformats.org/drawingml/2006/main" prst="roundRect">
            <a:avLst>
              <a:gd name="adj" fmla="val 15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CBDE5-E41F-4F05-9B21-8A7D12FB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4991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D3B2E"/>
                </a:solidFill>
              </a:defRPr>
            </a:pPr>
            <a:r>
              <a:rPr sz="1875" b="1" i="0">
                <a:solidFill>
                  <a:srgbClr val="0D3B2E"/>
                </a:solidFill>
              </a:rPr>
              <a:t>1. Pre-round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CC52B-7081-45DB-AE78-2ECE8F3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Retrieved chart summary for the selected patient, grounded in OpenEMR-collected evidence.</a:t>
            </a:r>
          </a:p>
        </p:txBody>
      </p:sp>
      <p:sp>
        <p:nvSpPr>
          <p:cNvPr id="8" name="node-2-follow-up-q-a">
            <a:extLst xmlns:a="http://schemas.openxmlformats.org/drawingml/2006/main">
              <a:ext uri="{FF2B5EF4-FFF2-40B4-BE49-F238E27FC236}">
                <a16:creationId xmlns:a16="http://schemas.microsoft.com/office/drawing/2014/main" id="{030DDDDE-470E-437F-80B8-CE372803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03170"/>
            <a:ext cx="5410200" cy="5372100"/>
          </a:xfrm>
          <a:prstGeom xmlns:a="http://schemas.openxmlformats.org/drawingml/2006/main" prst="roundRect">
            <a:avLst>
              <a:gd name="adj" fmla="val 15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39EAA-C9DA-4981-8FDD-27782BDE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4991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67C80"/>
                </a:solidFill>
              </a:defRPr>
            </a:pPr>
            <a:r>
              <a:rPr sz="1875" b="1" i="0">
                <a:solidFill>
                  <a:srgbClr val="167C80"/>
                </a:solidFill>
              </a:rPr>
              <a:t>2. Follow-up Q&amp;A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615E7-451F-4115-8389-1C4F9CDA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2895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Patient-scoped questions about changes, meds, labs, notes, contradictions, or missing data.</a:t>
            </a:r>
          </a:p>
        </p:txBody>
      </p:sp>
      <p:sp>
        <p:nvSpPr>
          <p:cNvPr id="11" name="node-3-safe-refusal">
            <a:extLst xmlns:a="http://schemas.openxmlformats.org/drawingml/2006/main">
              <a:ext uri="{FF2B5EF4-FFF2-40B4-BE49-F238E27FC236}">
                <a16:creationId xmlns:a16="http://schemas.microsoft.com/office/drawing/2014/main" id="{ABC53BD5-8B94-4EA9-83CF-1A29AA9E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503170"/>
            <a:ext cx="5410200" cy="5372100"/>
          </a:xfrm>
          <a:prstGeom xmlns:a="http://schemas.openxmlformats.org/drawingml/2006/main" prst="roundRect">
            <a:avLst>
              <a:gd name="adj" fmla="val 15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2733D-2932-4E40-BFB3-73C04933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667000"/>
            <a:ext cx="4991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B8453C"/>
                </a:solidFill>
              </a:defRPr>
            </a:pPr>
            <a:r>
              <a:rPr sz="1875" b="1" i="0">
                <a:solidFill>
                  <a:srgbClr val="B8453C"/>
                </a:solidFill>
              </a:rPr>
              <a:t>3. Safe refusal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3DBDE-D18E-4E58-AC54-9D14C715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2895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Treatment requests are reframed as record-backed issues for physician review, not directives.</a:t>
            </a:r>
          </a:p>
        </p:txBody>
      </p:sp>
      <p:sp>
        <p:nvSpPr>
          <p:cNvPr id="14" name="scope-boundary">
            <a:extLst xmlns:a="http://schemas.openxmlformats.org/drawingml/2006/main">
              <a:ext uri="{FF2B5EF4-FFF2-40B4-BE49-F238E27FC236}">
                <a16:creationId xmlns:a16="http://schemas.microsoft.com/office/drawing/2014/main" id="{BC59C6B0-99BE-4AD6-BCF4-88562B5A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41970"/>
            <a:ext cx="16649700" cy="906780"/>
          </a:xfrm>
          <a:prstGeom xmlns:a="http://schemas.openxmlformats.org/drawingml/2006/main" prst="roundRect">
            <a:avLst>
              <a:gd name="adj" fmla="val 9454"/>
            </a:avLst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B8CE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5F439-9974-4741-81ED-7C588DBA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324850"/>
            <a:ext cx="2362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D3B2E"/>
                </a:solidFill>
              </a:defRPr>
            </a:pPr>
            <a:r>
              <a:rPr sz="1725" b="1" i="0">
                <a:solidFill>
                  <a:srgbClr val="0D3B2E"/>
                </a:solidFill>
              </a:rPr>
              <a:t>Explicitly out of scope: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BE062C-8973-43AA-96F9-E71A4849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458200"/>
            <a:ext cx="1358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6231E"/>
                </a:solidFill>
              </a:defRPr>
            </a:pPr>
            <a:r>
              <a:rPr sz="1725" b="0" i="0">
                <a:solidFill>
                  <a:srgbClr val="16231E"/>
                </a:solidFill>
              </a:rPr>
              <a:t>orders, diagnosis, treatment directives, hidden patient switching, and model-side chart retrieval.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E32EFF-4A43-4053-88FC-20060A46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4488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E8F89"/>
                </a:solidFill>
              </a:defRPr>
            </a:pPr>
            <a:r>
              <a:rPr sz="1500" b="1" i="0">
                <a:solidFill>
                  <a:srgbClr val="7E8F8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00738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945C48ED-8F2E-410D-9410-CB9D727C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66D8508-A0CE-4BF6-A0ED-76FD4E82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7C80"/>
                </a:solidFill>
              </a:defRPr>
            </a:pPr>
            <a:r>
              <a:rPr sz="1500" b="1" i="0">
                <a:solidFill>
                  <a:srgbClr val="167C80"/>
                </a:solidFill>
              </a:rPr>
              <a:t>Architecture Choice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276C58-F04E-46D7-93DA-55793003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26111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6231E"/>
                </a:solidFill>
              </a:defRPr>
            </a:pPr>
            <a:r>
              <a:rPr sz="3600" b="1" i="0">
                <a:solidFill>
                  <a:srgbClr val="16231E"/>
                </a:solidFill>
              </a:rPr>
              <a:t>OpenEMR stays the trusted clinical boundary. The sidecar stays a constrained evidence transformer.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C7C7C53-7C98-490E-AE56-08276C81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D6D68"/>
                </a:solidFill>
              </a:defRPr>
            </a:pPr>
            <a:r>
              <a:rPr sz="2100" b="0" i="0">
                <a:solidFill>
                  <a:srgbClr val="5D6D68"/>
                </a:solidFill>
              </a:rPr>
              <a:t>This is a hybrid architecture: PHP/OpenEMR owns authorization and collection; FastAPI owns orchestration, LLM calls, and verification.</a:t>
            </a:r>
          </a:p>
        </p:txBody>
      </p:sp>
      <p:sp>
        <p:nvSpPr>
          <p:cNvPr id="5" name="openemr-boundary">
            <a:extLst xmlns:a="http://schemas.openxmlformats.org/drawingml/2006/main">
              <a:ext uri="{FF2B5EF4-FFF2-40B4-BE49-F238E27FC236}">
                <a16:creationId xmlns:a16="http://schemas.microsoft.com/office/drawing/2014/main" id="{C4ED540C-1B8A-434A-8076-F0EBC2EF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4210"/>
            <a:ext cx="876300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9050">
            <a:solidFill>
              <a:srgbClr val="9BB9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558CB-66C5-4E57-AAC2-387933E4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819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D3B2E"/>
                </a:solidFill>
              </a:defRPr>
            </a:pPr>
            <a:r>
              <a:rPr sz="2550" b="1" i="0">
                <a:solidFill>
                  <a:srgbClr val="0D3B2E"/>
                </a:solidFill>
              </a:rPr>
              <a:t>OpenEMR module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6E586-7B09-473E-BD4A-D63CFA74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8191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6231E"/>
                </a:solidFill>
              </a:defRPr>
            </a:pPr>
            <a:r>
              <a:rPr sz="1800" b="0" i="0">
                <a:solidFill>
                  <a:srgbClr val="16231E"/>
                </a:solidFill>
              </a:rPr>
              <a:t>Authenticates user, enforces patient access, collects chart evidence, signs the bounded bundle, writes patient-linked audit.</a:t>
            </a:r>
          </a:p>
        </p:txBody>
      </p:sp>
      <p:sp>
        <p:nvSpPr>
          <p:cNvPr id="8" name="chip-authorization">
            <a:extLst xmlns:a="http://schemas.openxmlformats.org/drawingml/2006/main">
              <a:ext uri="{FF2B5EF4-FFF2-40B4-BE49-F238E27FC236}">
                <a16:creationId xmlns:a16="http://schemas.microsoft.com/office/drawing/2014/main" id="{500A4BB5-243E-463C-9B71-02740DE9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70120"/>
            <a:ext cx="1555147" cy="40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3B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1EB8A-ACB4-40E1-B773-D78DF1BF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577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D3B2E"/>
                </a:solidFill>
              </a:defRPr>
            </a:pPr>
            <a:r>
              <a:rPr sz="1425" b="1" i="0">
                <a:solidFill>
                  <a:srgbClr val="0D3B2E"/>
                </a:solidFill>
              </a:rPr>
              <a:t>authorization</a:t>
            </a:r>
          </a:p>
        </p:txBody>
      </p:sp>
      <p:sp>
        <p:nvSpPr>
          <p:cNvPr id="10" name="chip-collection">
            <a:extLst xmlns:a="http://schemas.openxmlformats.org/drawingml/2006/main">
              <a:ext uri="{FF2B5EF4-FFF2-40B4-BE49-F238E27FC236}">
                <a16:creationId xmlns:a16="http://schemas.microsoft.com/office/drawing/2014/main" id="{DC85C190-8888-438B-867F-86684F2C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397" y="4770120"/>
            <a:ext cx="1263015" cy="40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3B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6DE30-E81B-4C7D-A29B-CF9ED3B2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57750"/>
            <a:ext cx="83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D3B2E"/>
                </a:solidFill>
              </a:defRPr>
            </a:pPr>
            <a:r>
              <a:rPr sz="1425" b="1" i="0">
                <a:solidFill>
                  <a:srgbClr val="0D3B2E"/>
                </a:solidFill>
              </a:rPr>
              <a:t>collection</a:t>
            </a:r>
          </a:p>
        </p:txBody>
      </p:sp>
      <p:sp>
        <p:nvSpPr>
          <p:cNvPr id="12" name="chip-audit">
            <a:extLst xmlns:a="http://schemas.openxmlformats.org/drawingml/2006/main">
              <a:ext uri="{FF2B5EF4-FFF2-40B4-BE49-F238E27FC236}">
                <a16:creationId xmlns:a16="http://schemas.microsoft.com/office/drawing/2014/main" id="{DC19EE91-4C14-4C86-B128-B7C9DE2E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762" y="4770120"/>
            <a:ext cx="851249" cy="624840"/>
          </a:xfrm>
          <a:prstGeom xmlns:a="http://schemas.openxmlformats.org/drawingml/2006/main" prst="roundRect">
            <a:avLst>
              <a:gd name="adj" fmla="val 33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3B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6A297-A44C-4B35-BAEE-34EB3605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438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D3B2E"/>
                </a:solidFill>
              </a:defRPr>
            </a:pPr>
            <a:r>
              <a:rPr sz="1425" b="1" i="0">
                <a:solidFill>
                  <a:srgbClr val="0D3B2E"/>
                </a:solidFill>
              </a:rPr>
              <a:t>audit</a:t>
            </a:r>
          </a:p>
        </p:txBody>
      </p:sp>
      <p:sp>
        <p:nvSpPr>
          <p:cNvPr id="14" name="sidecar-boundary">
            <a:extLst xmlns:a="http://schemas.openxmlformats.org/drawingml/2006/main">
              <a:ext uri="{FF2B5EF4-FFF2-40B4-BE49-F238E27FC236}">
                <a16:creationId xmlns:a16="http://schemas.microsoft.com/office/drawing/2014/main" id="{9A4D502E-A467-4AC6-BD8E-68D1A5CD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4210"/>
            <a:ext cx="788670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EF8F8"/>
          </a:solidFill>
          <a:ln xmlns:a="http://schemas.openxmlformats.org/drawingml/2006/main" w="19050">
            <a:solidFill>
              <a:srgbClr val="98CA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C165E-5573-4ED2-B4FC-3A58EC52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48050"/>
            <a:ext cx="7315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67C80"/>
                </a:solidFill>
              </a:defRPr>
            </a:pPr>
            <a:r>
              <a:rPr sz="2550" b="1" i="0">
                <a:solidFill>
                  <a:srgbClr val="167C80"/>
                </a:solidFill>
              </a:rPr>
              <a:t>FastAPI sidecar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90BEC-D292-4209-BF5B-F06248F3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38600"/>
            <a:ext cx="73152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6231E"/>
                </a:solidFill>
              </a:defRPr>
            </a:pPr>
            <a:r>
              <a:rPr sz="1800" b="0" i="0">
                <a:solidFill>
                  <a:srgbClr val="16231E"/>
                </a:solidFill>
              </a:rPr>
              <a:t>Receives only the signed RoundingContextBundle, calls OpenAI through an abstract provider, verifies every output claim, and returns status.</a:t>
            </a:r>
          </a:p>
        </p:txBody>
      </p:sp>
      <p:sp>
        <p:nvSpPr>
          <p:cNvPr id="17" name="chip-orchestration">
            <a:extLst xmlns:a="http://schemas.openxmlformats.org/drawingml/2006/main">
              <a:ext uri="{FF2B5EF4-FFF2-40B4-BE49-F238E27FC236}">
                <a16:creationId xmlns:a16="http://schemas.microsoft.com/office/drawing/2014/main" id="{E2ED0BFC-C55E-496F-8382-137A27D4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044440"/>
            <a:ext cx="1575340" cy="40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52432-5C30-44A1-ACE2-4666C545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143500"/>
            <a:ext cx="116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67C80"/>
                </a:solidFill>
              </a:defRPr>
            </a:pPr>
            <a:r>
              <a:rPr sz="1425" b="1" i="0">
                <a:solidFill>
                  <a:srgbClr val="167C80"/>
                </a:solidFill>
              </a:rPr>
              <a:t>orchestration</a:t>
            </a:r>
          </a:p>
        </p:txBody>
      </p:sp>
      <p:sp>
        <p:nvSpPr>
          <p:cNvPr id="19" name="chip-llm">
            <a:extLst xmlns:a="http://schemas.openxmlformats.org/drawingml/2006/main">
              <a:ext uri="{FF2B5EF4-FFF2-40B4-BE49-F238E27FC236}">
                <a16:creationId xmlns:a16="http://schemas.microsoft.com/office/drawing/2014/main" id="{1657AB13-F574-414B-9F52-C9E7BA00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590" y="5044440"/>
            <a:ext cx="797814" cy="624840"/>
          </a:xfrm>
          <a:prstGeom xmlns:a="http://schemas.openxmlformats.org/drawingml/2006/main" prst="roundRect">
            <a:avLst>
              <a:gd name="adj" fmla="val 33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40572-94BA-4BE4-A53A-374AE783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143500"/>
            <a:ext cx="381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67C80"/>
                </a:solidFill>
              </a:defRPr>
            </a:pPr>
            <a:r>
              <a:rPr sz="1425" b="1" i="0">
                <a:solidFill>
                  <a:srgbClr val="167C80"/>
                </a:solidFill>
              </a:rPr>
              <a:t>LLM</a:t>
            </a:r>
          </a:p>
        </p:txBody>
      </p:sp>
      <p:sp>
        <p:nvSpPr>
          <p:cNvPr id="21" name="chip-verification">
            <a:extLst xmlns:a="http://schemas.openxmlformats.org/drawingml/2006/main">
              <a:ext uri="{FF2B5EF4-FFF2-40B4-BE49-F238E27FC236}">
                <a16:creationId xmlns:a16="http://schemas.microsoft.com/office/drawing/2014/main" id="{756DF04B-9A2E-4683-A675-E7923FE2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7754" y="5044440"/>
            <a:ext cx="1380839" cy="624840"/>
          </a:xfrm>
          <a:prstGeom xmlns:a="http://schemas.openxmlformats.org/drawingml/2006/main" prst="roundRect">
            <a:avLst>
              <a:gd name="adj" fmla="val 33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F9FE45-2C66-4EE3-8246-D662A940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5143500"/>
            <a:ext cx="95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67C80"/>
                </a:solidFill>
              </a:defRPr>
            </a:pPr>
            <a:r>
              <a:rPr sz="1425" b="1" i="0">
                <a:solidFill>
                  <a:srgbClr val="167C80"/>
                </a:solidFill>
              </a:rPr>
              <a:t>verification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D1C61D-6373-4E99-9D65-4E595BF2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44000"/>
            <a:ext cx="11525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B8453C"/>
                </a:solidFill>
              </a:defRPr>
            </a:pPr>
            <a:r>
              <a:rPr sz="1800" b="1" i="0">
                <a:solidFill>
                  <a:srgbClr val="B8453C"/>
                </a:solidFill>
              </a:rPr>
              <a:t>The sidecar has no DB credentials, no OpenEMR API token, and no callback tool to fetch more chart data.</a:t>
            </a:r>
          </a:p>
        </p:txBody>
      </p:sp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7BDF7F4-A92D-4410-8BAB-2F470BE5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2964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E8F89"/>
                </a:solidFill>
              </a:defRPr>
            </a:pPr>
            <a:r>
              <a:rPr sz="1500" b="1" i="0">
                <a:solidFill>
                  <a:srgbClr val="7E8F8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002909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ADD58D25-BA99-4D04-954A-539D80A4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9EAF3E74-5B71-4647-964C-9F252F92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7C80"/>
                </a:solidFill>
              </a:defRPr>
            </a:pPr>
            <a:r>
              <a:rPr sz="1500" b="1" i="0">
                <a:solidFill>
                  <a:srgbClr val="167C80"/>
                </a:solidFill>
              </a:rPr>
              <a:t>Request Flow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C18EA6-9F6F-4976-80D4-7F92DFA6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3430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6231E"/>
                </a:solidFill>
              </a:defRPr>
            </a:pPr>
            <a:r>
              <a:rPr sz="3750" b="1" i="0">
                <a:solidFill>
                  <a:srgbClr val="16231E"/>
                </a:solidFill>
              </a:rPr>
              <a:t>The model only sees a bounded evidence bundle, never the whole chart.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96B85A-18E8-49FA-87C2-65D7592E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849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D6D68"/>
                </a:solidFill>
              </a:defRPr>
            </a:pPr>
            <a:r>
              <a:rPr sz="2100" b="0" i="0">
                <a:solidFill>
                  <a:srgbClr val="5D6D68"/>
                </a:solidFill>
              </a:rPr>
              <a:t>The response is useful early, but verification is never skipped for speed.</a:t>
            </a:r>
          </a:p>
        </p:txBody>
      </p:sp>
      <p:sp>
        <p:nvSpPr>
          <p:cNvPr id="5" name="node-browser-ui">
            <a:extLst xmlns:a="http://schemas.openxmlformats.org/drawingml/2006/main">
              <a:ext uri="{FF2B5EF4-FFF2-40B4-BE49-F238E27FC236}">
                <a16:creationId xmlns:a16="http://schemas.microsoft.com/office/drawing/2014/main" id="{BA68108C-316C-434A-9838-EA7C01F7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3519488" cy="1466850"/>
          </a:xfrm>
          <a:prstGeom xmlns:a="http://schemas.openxmlformats.org/drawingml/2006/main" prst="roundRect">
            <a:avLst>
              <a:gd name="adj" fmla="val 5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F6C10-24AA-4D3D-82F9-3C32DDE6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6231E"/>
                </a:solidFill>
              </a:defRPr>
            </a:pPr>
            <a:r>
              <a:rPr sz="1875" b="1" i="0">
                <a:solidFill>
                  <a:srgbClr val="16231E"/>
                </a:solidFill>
              </a:rPr>
              <a:t>Browser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2FB30-3A0F-46D2-83D8-0CBD2798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Hospitalist selects patient or asks a patient-scoped question.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DC6C7C79-50C2-4EF6-AC31-4E368E99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4335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7C80"/>
                </a:solidFill>
              </a:defRPr>
            </a:pPr>
            <a:r>
              <a:rPr sz="2250" b="1" i="0">
                <a:solidFill>
                  <a:srgbClr val="167C80"/>
                </a:solidFill>
              </a:rPr>
              <a:t>-&gt;</a:t>
            </a:r>
          </a:p>
        </p:txBody>
      </p:sp>
      <p:sp>
        <p:nvSpPr>
          <p:cNvPr id="9" name="node-openemr-module">
            <a:extLst xmlns:a="http://schemas.openxmlformats.org/drawingml/2006/main">
              <a:ext uri="{FF2B5EF4-FFF2-40B4-BE49-F238E27FC236}">
                <a16:creationId xmlns:a16="http://schemas.microsoft.com/office/drawing/2014/main" id="{867EB307-1ADB-45A2-8438-988A39BC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88" y="3371850"/>
            <a:ext cx="3519488" cy="1466850"/>
          </a:xfrm>
          <a:prstGeom xmlns:a="http://schemas.openxmlformats.org/drawingml/2006/main" prst="roundRect">
            <a:avLst>
              <a:gd name="adj" fmla="val 5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2D32C-6BC5-44A9-9A8D-ABBD3DA9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433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D3B2E"/>
                </a:solidFill>
              </a:defRPr>
            </a:pPr>
            <a:r>
              <a:rPr sz="1875" b="1" i="0">
                <a:solidFill>
                  <a:srgbClr val="0D3B2E"/>
                </a:solidFill>
              </a:rPr>
              <a:t>OpenEMR module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2DE8F-39BE-446B-8806-3AB3142D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052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Checks session, patient access, encounter scope, and rate limits.</a:t>
            </a:r>
          </a:p>
        </p:txBody>
      </p:sp>
      <p:sp>
        <p:nvSpPr>
          <p:cNvPr id="12" name="flow-arrow">
            <a:extLst xmlns:a="http://schemas.openxmlformats.org/drawingml/2006/main">
              <a:ext uri="{FF2B5EF4-FFF2-40B4-BE49-F238E27FC236}">
                <a16:creationId xmlns:a16="http://schemas.microsoft.com/office/drawing/2014/main" id="{9D0F71F2-C183-4884-AA6E-0F0C4F2E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4335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7C80"/>
                </a:solidFill>
              </a:defRPr>
            </a:pPr>
            <a:r>
              <a:rPr sz="2250" b="1" i="0">
                <a:solidFill>
                  <a:srgbClr val="167C80"/>
                </a:solidFill>
              </a:rPr>
              <a:t>-&gt;</a:t>
            </a:r>
          </a:p>
        </p:txBody>
      </p:sp>
      <p:sp>
        <p:nvSpPr>
          <p:cNvPr id="13" name="node-collectors">
            <a:extLst xmlns:a="http://schemas.openxmlformats.org/drawingml/2006/main">
              <a:ext uri="{FF2B5EF4-FFF2-40B4-BE49-F238E27FC236}">
                <a16:creationId xmlns:a16="http://schemas.microsoft.com/office/drawing/2014/main" id="{17000BAF-F111-4F74-AA4D-CB60B8A9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71850"/>
            <a:ext cx="3519488" cy="1466850"/>
          </a:xfrm>
          <a:prstGeom xmlns:a="http://schemas.openxmlformats.org/drawingml/2006/main" prst="roundRect">
            <a:avLst>
              <a:gd name="adj" fmla="val 5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FFF8B-6821-4309-A7BD-175279DF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433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D3B2E"/>
                </a:solidFill>
              </a:defRPr>
            </a:pPr>
            <a:r>
              <a:rPr sz="1875" b="1" i="0">
                <a:solidFill>
                  <a:srgbClr val="0D3B2E"/>
                </a:solidFill>
              </a:rPr>
              <a:t>Collectors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664C3-821C-4253-B59F-3F2E927D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052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Build bounded evidence from notes, meds, labs, vitals, orders, and gaps.</a:t>
            </a:r>
          </a:p>
        </p:txBody>
      </p:sp>
      <p:sp>
        <p:nvSpPr>
          <p:cNvPr id="16" name="flow-arrow">
            <a:extLst xmlns:a="http://schemas.openxmlformats.org/drawingml/2006/main">
              <a:ext uri="{FF2B5EF4-FFF2-40B4-BE49-F238E27FC236}">
                <a16:creationId xmlns:a16="http://schemas.microsoft.com/office/drawing/2014/main" id="{B72AB434-A14F-4120-9D4F-A13459EF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94335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7C80"/>
                </a:solidFill>
              </a:defRPr>
            </a:pPr>
            <a:r>
              <a:rPr sz="2250" b="1" i="0">
                <a:solidFill>
                  <a:srgbClr val="167C80"/>
                </a:solidFill>
              </a:rPr>
              <a:t>-&gt;</a:t>
            </a:r>
          </a:p>
        </p:txBody>
      </p:sp>
      <p:sp>
        <p:nvSpPr>
          <p:cNvPr id="17" name="node-signed-bundle">
            <a:extLst xmlns:a="http://schemas.openxmlformats.org/drawingml/2006/main">
              <a:ext uri="{FF2B5EF4-FFF2-40B4-BE49-F238E27FC236}">
                <a16:creationId xmlns:a16="http://schemas.microsoft.com/office/drawing/2014/main" id="{1BDD2FD0-DEE3-49C5-BD2C-4FECDECB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363" y="3371850"/>
            <a:ext cx="3519488" cy="1466850"/>
          </a:xfrm>
          <a:prstGeom xmlns:a="http://schemas.openxmlformats.org/drawingml/2006/main" prst="roundRect">
            <a:avLst>
              <a:gd name="adj" fmla="val 584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31110-02A4-495B-B91D-D4C70491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35433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C7922B"/>
                </a:solidFill>
              </a:defRPr>
            </a:pPr>
            <a:r>
              <a:rPr sz="1875" b="1" i="0">
                <a:solidFill>
                  <a:srgbClr val="C7922B"/>
                </a:solidFill>
              </a:rPr>
              <a:t>Signed bundle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C990F-A38D-40A1-844A-552AE9DE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39052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conversation_id + patient_id + encounter_id + evidence_bundle.</a:t>
            </a:r>
          </a:p>
        </p:txBody>
      </p:sp>
      <p:sp>
        <p:nvSpPr>
          <p:cNvPr id="20" name="node-sidecar">
            <a:extLst xmlns:a="http://schemas.openxmlformats.org/drawingml/2006/main">
              <a:ext uri="{FF2B5EF4-FFF2-40B4-BE49-F238E27FC236}">
                <a16:creationId xmlns:a16="http://schemas.microsoft.com/office/drawing/2014/main" id="{61A46AEB-4609-46C8-94C1-C7FB77B3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76950"/>
            <a:ext cx="3519488" cy="1466850"/>
          </a:xfrm>
          <a:prstGeom xmlns:a="http://schemas.openxmlformats.org/drawingml/2006/main" prst="roundRect">
            <a:avLst>
              <a:gd name="adj" fmla="val 5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21CD6-DA09-4F11-A2FC-844E0833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484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67C80"/>
                </a:solidFill>
              </a:defRPr>
            </a:pPr>
            <a:r>
              <a:rPr sz="1875" b="1" i="0">
                <a:solidFill>
                  <a:srgbClr val="167C80"/>
                </a:solidFill>
              </a:rPr>
              <a:t>Sidecar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5BB97-1734-49BA-A238-BE93E083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103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Single orchestrator. No multi-agent autonomy, no raw chart persistence.</a:t>
            </a:r>
          </a:p>
        </p:txBody>
      </p:sp>
      <p:sp>
        <p:nvSpPr>
          <p:cNvPr id="23" name="flow-arrow">
            <a:extLst xmlns:a="http://schemas.openxmlformats.org/drawingml/2006/main">
              <a:ext uri="{FF2B5EF4-FFF2-40B4-BE49-F238E27FC236}">
                <a16:creationId xmlns:a16="http://schemas.microsoft.com/office/drawing/2014/main" id="{1D8AF5D4-14D2-4590-BE6B-BF7BBFAB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64845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7C80"/>
                </a:solidFill>
              </a:defRPr>
            </a:pPr>
            <a:r>
              <a:rPr sz="2250" b="1" i="0">
                <a:solidFill>
                  <a:srgbClr val="167C80"/>
                </a:solidFill>
              </a:rPr>
              <a:t>-&gt;</a:t>
            </a:r>
          </a:p>
        </p:txBody>
      </p:sp>
      <p:sp>
        <p:nvSpPr>
          <p:cNvPr id="24" name="node-openai-provider">
            <a:extLst xmlns:a="http://schemas.openxmlformats.org/drawingml/2006/main">
              <a:ext uri="{FF2B5EF4-FFF2-40B4-BE49-F238E27FC236}">
                <a16:creationId xmlns:a16="http://schemas.microsoft.com/office/drawing/2014/main" id="{1089B44B-8369-4B5E-B04C-7FE44A87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88" y="6076950"/>
            <a:ext cx="3519488" cy="1466850"/>
          </a:xfrm>
          <a:prstGeom xmlns:a="http://schemas.openxmlformats.org/drawingml/2006/main" prst="roundRect">
            <a:avLst>
              <a:gd name="adj" fmla="val 5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1DB9AA-2AC2-470C-8208-A8D97CA6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2484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67C80"/>
                </a:solidFill>
              </a:defRPr>
            </a:pPr>
            <a:r>
              <a:rPr sz="1875" b="1" i="0">
                <a:solidFill>
                  <a:srgbClr val="167C80"/>
                </a:solidFill>
              </a:rPr>
              <a:t>OpenAI provider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5507A2-6E6E-4014-B2E5-3C566A09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6103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Schema-first structured output; provider abstracted behind config.</a:t>
            </a:r>
          </a:p>
        </p:txBody>
      </p:sp>
      <p:sp>
        <p:nvSpPr>
          <p:cNvPr id="27" name="flow-arrow">
            <a:extLst xmlns:a="http://schemas.openxmlformats.org/drawingml/2006/main">
              <a:ext uri="{FF2B5EF4-FFF2-40B4-BE49-F238E27FC236}">
                <a16:creationId xmlns:a16="http://schemas.microsoft.com/office/drawing/2014/main" id="{E5EBAC31-697E-40F0-9741-8FEE5E10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64845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7C80"/>
                </a:solidFill>
              </a:defRPr>
            </a:pPr>
            <a:r>
              <a:rPr sz="2250" b="1" i="0">
                <a:solidFill>
                  <a:srgbClr val="167C80"/>
                </a:solidFill>
              </a:rPr>
              <a:t>-&gt;</a:t>
            </a:r>
          </a:p>
        </p:txBody>
      </p:sp>
      <p:sp>
        <p:nvSpPr>
          <p:cNvPr id="28" name="node-verifier">
            <a:extLst xmlns:a="http://schemas.openxmlformats.org/drawingml/2006/main">
              <a:ext uri="{FF2B5EF4-FFF2-40B4-BE49-F238E27FC236}">
                <a16:creationId xmlns:a16="http://schemas.microsoft.com/office/drawing/2014/main" id="{1AC44DCE-7B88-4B63-A155-A46939CE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076950"/>
            <a:ext cx="3519488" cy="1466850"/>
          </a:xfrm>
          <a:prstGeom xmlns:a="http://schemas.openxmlformats.org/drawingml/2006/main" prst="roundRect">
            <a:avLst>
              <a:gd name="adj" fmla="val 5844"/>
            </a:avLst>
          </a:prstGeom>
          <a:solidFill xmlns:a="http://schemas.openxmlformats.org/drawingml/2006/main">
            <a:srgbClr val="FFF9F8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31B522-430C-4FED-82E6-AED12B92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2484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B8453C"/>
                </a:solidFill>
              </a:defRPr>
            </a:pPr>
            <a:r>
              <a:rPr sz="1875" b="1" i="0">
                <a:solidFill>
                  <a:srgbClr val="B8453C"/>
                </a:solidFill>
              </a:rPr>
              <a:t>Verifier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627747-1857-42A1-9BCF-1B98FC2D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6103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Claims must map back to specific evidence fields or spans.</a:t>
            </a:r>
          </a:p>
        </p:txBody>
      </p:sp>
      <p:sp>
        <p:nvSpPr>
          <p:cNvPr id="31" name="flow-arrow">
            <a:extLst xmlns:a="http://schemas.openxmlformats.org/drawingml/2006/main">
              <a:ext uri="{FF2B5EF4-FFF2-40B4-BE49-F238E27FC236}">
                <a16:creationId xmlns:a16="http://schemas.microsoft.com/office/drawing/2014/main" id="{F0F926B7-28C6-46CC-9C45-1652A2E6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64845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7C80"/>
                </a:solidFill>
              </a:defRPr>
            </a:pPr>
            <a:r>
              <a:rPr sz="2250" b="1" i="0">
                <a:solidFill>
                  <a:srgbClr val="167C80"/>
                </a:solidFill>
              </a:rPr>
              <a:t>-&gt;</a:t>
            </a:r>
          </a:p>
        </p:txBody>
      </p:sp>
      <p:sp>
        <p:nvSpPr>
          <p:cNvPr id="32" name="node-ui-audit">
            <a:extLst xmlns:a="http://schemas.openxmlformats.org/drawingml/2006/main">
              <a:ext uri="{FF2B5EF4-FFF2-40B4-BE49-F238E27FC236}">
                <a16:creationId xmlns:a16="http://schemas.microsoft.com/office/drawing/2014/main" id="{4D8FD9DF-4F20-4901-9ADB-42F6C2D4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363" y="6076950"/>
            <a:ext cx="3519488" cy="1466850"/>
          </a:xfrm>
          <a:prstGeom xmlns:a="http://schemas.openxmlformats.org/drawingml/2006/main" prst="roundRect">
            <a:avLst>
              <a:gd name="adj" fmla="val 5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C158A0-2AF4-4302-B72E-25729A33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62484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D3B2E"/>
                </a:solidFill>
              </a:defRPr>
            </a:pPr>
            <a:r>
              <a:rPr sz="1875" b="1" i="0">
                <a:solidFill>
                  <a:srgbClr val="0D3B2E"/>
                </a:solidFill>
              </a:rPr>
              <a:t>UI + audit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4E9001-F11E-4E48-8636-9D7ED309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66103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Verified, partial, refused, or failed response with warnings and citations.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F2CF23-F3BB-417B-8CAE-04D3292B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24850"/>
            <a:ext cx="1133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D3B2E"/>
                </a:solidFill>
              </a:defRPr>
            </a:pPr>
            <a:r>
              <a:rPr sz="1800" b="1" i="0">
                <a:solidFill>
                  <a:srgbClr val="0D3B2E"/>
                </a:solidFill>
              </a:rPr>
              <a:t>Timeouts return partial verified answers with warnings; they do not silently lower the evidence standard.</a:t>
            </a:r>
          </a:p>
        </p:txBody>
      </p:sp>
      <p:sp>
        <p:nvSpPr>
          <p:cNvPr id="3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2ED2C44-5E4B-48E3-8037-F0CCBECA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83439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E8F89"/>
                </a:solidFill>
              </a:defRPr>
            </a:pPr>
            <a:r>
              <a:rPr sz="1500" b="1" i="0">
                <a:solidFill>
                  <a:srgbClr val="7E8F8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97489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67736F2B-132E-4651-A2A9-22485A67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9EC5936D-042C-4926-8F28-FF0496E9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7C80"/>
                </a:solidFill>
              </a:defRPr>
            </a:pPr>
            <a:r>
              <a:rPr sz="1500" b="1" i="0">
                <a:solidFill>
                  <a:srgbClr val="167C80"/>
                </a:solidFill>
              </a:rPr>
              <a:t>Verification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E4AF25-D752-499E-9CFA-F51FCC18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26111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6231E"/>
                </a:solidFill>
              </a:defRPr>
            </a:pPr>
            <a:r>
              <a:rPr sz="3900" b="1" i="0">
                <a:solidFill>
                  <a:srgbClr val="16231E"/>
                </a:solidFill>
              </a:rPr>
              <a:t>Citations are not enough. Every clinical claim needs a source-bound proof.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0E0E5F6-3C26-454F-B845-B84456FE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7029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D6D68"/>
                </a:solidFill>
              </a:defRPr>
            </a:pPr>
            <a:r>
              <a:rPr sz="2100" b="0" i="0">
                <a:solidFill>
                  <a:srgbClr val="5D6D68"/>
                </a:solidFill>
              </a:rPr>
              <a:t>The verifier is deliberately stricter than the language model.</a:t>
            </a:r>
          </a:p>
        </p:txBody>
      </p:sp>
      <p:sp>
        <p:nvSpPr>
          <p:cNvPr id="5" name="claim-example">
            <a:extLst xmlns:a="http://schemas.openxmlformats.org/drawingml/2006/main">
              <a:ext uri="{FF2B5EF4-FFF2-40B4-BE49-F238E27FC236}">
                <a16:creationId xmlns:a16="http://schemas.microsoft.com/office/drawing/2014/main" id="{B48BE3D3-D4A2-4668-9CEB-2DAC3260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5610"/>
            <a:ext cx="7744047" cy="6149340"/>
          </a:xfrm>
          <a:prstGeom xmlns:a="http://schemas.openxmlformats.org/drawingml/2006/main" prst="roundRect">
            <a:avLst>
              <a:gd name="adj" fmla="val 15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E9271-5F69-4D73-9B92-167782CD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7181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5D6D68"/>
                </a:solidFill>
              </a:defRPr>
            </a:pPr>
            <a:r>
              <a:rPr sz="1800" b="1" i="0">
                <a:solidFill>
                  <a:srgbClr val="5D6D68"/>
                </a:solidFill>
              </a:rPr>
              <a:t>Model proposes: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28DD5-0FEE-4C2F-8DDA-4EEF7C23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71818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231E"/>
                </a:solidFill>
              </a:defRPr>
            </a:pPr>
            <a:r>
              <a:rPr sz="2850" b="1" i="0">
                <a:solidFill>
                  <a:srgbClr val="16231E"/>
                </a:solidFill>
              </a:rPr>
              <a:t>Creatinine increased overnight and diuretics may need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07275-8E09-4E41-9357-AFBA648C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22B"/>
          </a:solidFill>
          <a:ln xmlns:a="http://schemas.openxmlformats.org/drawingml/2006/main" w="0">
            <a:solidFill>
              <a:srgbClr val="C792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FBFC4-9C03-4451-9D1B-C701988A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91100"/>
            <a:ext cx="7181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0D3B2E"/>
                </a:solidFill>
              </a:defRPr>
            </a:pPr>
            <a:r>
              <a:rPr sz="1800" b="0" i="0">
                <a:solidFill>
                  <a:srgbClr val="0D3B2E"/>
                </a:solidFill>
              </a:rPr>
              <a:t>Verifier asks: where exactly in the bundle is each factual claim supported?</a:t>
            </a:r>
          </a:p>
        </p:txBody>
      </p:sp>
      <p:sp>
        <p:nvSpPr>
          <p:cNvPr id="10" name="node-evidence-pointer">
            <a:extLst xmlns:a="http://schemas.openxmlformats.org/drawingml/2006/main">
              <a:ext uri="{FF2B5EF4-FFF2-40B4-BE49-F238E27FC236}">
                <a16:creationId xmlns:a16="http://schemas.microsoft.com/office/drawing/2014/main" id="{C41683C2-E4C8-493C-86FC-1AEA1F17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197" y="2975610"/>
            <a:ext cx="8905653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9E8D9-42A2-42E6-B82D-C2FAEF41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847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D3B2E"/>
                </a:solidFill>
              </a:defRPr>
            </a:pPr>
            <a:r>
              <a:rPr sz="1875" b="1" i="0">
                <a:solidFill>
                  <a:srgbClr val="0D3B2E"/>
                </a:solidFill>
              </a:rPr>
              <a:t>Evidence pointer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6B9F3-1EEE-487E-B906-CD4B545C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05200"/>
            <a:ext cx="847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record_type, record_id, field path or text span, value, timestamp.</a:t>
            </a:r>
          </a:p>
        </p:txBody>
      </p:sp>
      <p:sp>
        <p:nvSpPr>
          <p:cNvPr id="13" name="node-status-contract">
            <a:extLst xmlns:a="http://schemas.openxmlformats.org/drawingml/2006/main">
              <a:ext uri="{FF2B5EF4-FFF2-40B4-BE49-F238E27FC236}">
                <a16:creationId xmlns:a16="http://schemas.microsoft.com/office/drawing/2014/main" id="{C39B46F8-BB00-4073-AC4E-6378EED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197" y="4213860"/>
            <a:ext cx="8905653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14DE9-2D7A-49D1-A5EB-9B9D59D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81500"/>
            <a:ext cx="847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67C80"/>
                </a:solidFill>
              </a:defRPr>
            </a:pPr>
            <a:r>
              <a:rPr sz="1875" b="1" i="0">
                <a:solidFill>
                  <a:srgbClr val="167C80"/>
                </a:solidFill>
              </a:rPr>
              <a:t>Status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D262E-9893-4339-B38C-912D14D2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43450"/>
            <a:ext cx="847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verified, partial, refused, or failed.</a:t>
            </a:r>
          </a:p>
        </p:txBody>
      </p:sp>
      <p:sp>
        <p:nvSpPr>
          <p:cNvPr id="16" name="node-contradiction-surfacing">
            <a:extLst xmlns:a="http://schemas.openxmlformats.org/drawingml/2006/main">
              <a:ext uri="{FF2B5EF4-FFF2-40B4-BE49-F238E27FC236}">
                <a16:creationId xmlns:a16="http://schemas.microsoft.com/office/drawing/2014/main" id="{9A0C08C5-067F-467A-83FC-47CA35D8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197" y="5452110"/>
            <a:ext cx="8905653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EC539-D2C1-4698-9D6A-FC857339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619750"/>
            <a:ext cx="847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C7922B"/>
                </a:solidFill>
              </a:defRPr>
            </a:pPr>
            <a:r>
              <a:rPr sz="1875" b="1" i="0">
                <a:solidFill>
                  <a:srgbClr val="C7922B"/>
                </a:solidFill>
              </a:rPr>
              <a:t>Contradiction surfacing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92BF1-1BFE-470B-A716-770B1EE5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981700"/>
            <a:ext cx="847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Conflicting notes or stale values are shown as uncertainty, not resolved by the model.</a:t>
            </a:r>
          </a:p>
        </p:txBody>
      </p:sp>
      <p:sp>
        <p:nvSpPr>
          <p:cNvPr id="19" name="node-prompt-injection-defense">
            <a:extLst xmlns:a="http://schemas.openxmlformats.org/drawingml/2006/main">
              <a:ext uri="{FF2B5EF4-FFF2-40B4-BE49-F238E27FC236}">
                <a16:creationId xmlns:a16="http://schemas.microsoft.com/office/drawing/2014/main" id="{08040AE3-11D9-4642-B827-9361C45F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197" y="6690360"/>
            <a:ext cx="8905653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9F8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0EBBA-E60E-4A7E-A01D-FA37B760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858000"/>
            <a:ext cx="847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B8453C"/>
                </a:solidFill>
              </a:defRPr>
            </a:pPr>
            <a:r>
              <a:rPr sz="1875" b="1" i="0">
                <a:solidFill>
                  <a:srgbClr val="B8453C"/>
                </a:solidFill>
              </a:rPr>
              <a:t>Prompt injection defense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1A8F5-3446-4F1E-A601-ADA72AB3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219950"/>
            <a:ext cx="847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Chart text is untrusted input; notes cannot override policy, scope, or verification rules.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AB921FB-E19B-4A7A-9500-3AE1B94B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4488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E8F89"/>
                </a:solidFill>
              </a:defRPr>
            </a:pPr>
            <a:r>
              <a:rPr sz="1500" b="1" i="0">
                <a:solidFill>
                  <a:srgbClr val="7E8F8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120686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362E8E20-8897-4A6B-97BD-8B197836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5DFD1650-5CFC-4C2F-8DFB-484A4E06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7C80"/>
                </a:solidFill>
              </a:defRPr>
            </a:pPr>
            <a:r>
              <a:rPr sz="1500" b="1" i="0">
                <a:solidFill>
                  <a:srgbClr val="167C80"/>
                </a:solidFill>
              </a:rPr>
              <a:t>Reliability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8CAAF6-6C6F-4712-8E16-01A64667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0629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16231E"/>
                </a:solidFill>
              </a:defRPr>
            </a:pPr>
            <a:r>
              <a:rPr sz="4200" b="1" i="0">
                <a:solidFill>
                  <a:srgbClr val="16231E"/>
                </a:solidFill>
              </a:rPr>
              <a:t>The architecture is designed to fail visibly.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D711557-7DD2-4A12-BF98-F6692978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8343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D6D68"/>
                </a:solidFill>
              </a:defRPr>
            </a:pPr>
            <a:r>
              <a:rPr sz="2100" b="0" i="0">
                <a:solidFill>
                  <a:srgbClr val="5D6D68"/>
                </a:solidFill>
              </a:rPr>
              <a:t>In clinical software, an honest warning is safer than a confident guess.</a:t>
            </a:r>
          </a:p>
        </p:txBody>
      </p:sp>
      <p:sp>
        <p:nvSpPr>
          <p:cNvPr id="5" name="claim-missing-data">
            <a:extLst xmlns:a="http://schemas.openxmlformats.org/drawingml/2006/main">
              <a:ext uri="{FF2B5EF4-FFF2-40B4-BE49-F238E27FC236}">
                <a16:creationId xmlns:a16="http://schemas.microsoft.com/office/drawing/2014/main" id="{14E947B5-B892-42C8-A862-1792FACC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6060"/>
            <a:ext cx="5549900" cy="3009900"/>
          </a:xfrm>
          <a:prstGeom xmlns:a="http://schemas.openxmlformats.org/drawingml/2006/main" prst="roundRect">
            <a:avLst>
              <a:gd name="adj" fmla="val 31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6A2E2-E1EF-45B0-B3EE-DCB98DD4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C7922B"/>
                </a:solidFill>
              </a:defRPr>
            </a:pPr>
            <a:r>
              <a:rPr sz="2175" b="1" i="0">
                <a:solidFill>
                  <a:srgbClr val="C7922B"/>
                </a:solidFill>
              </a:rPr>
              <a:t>Missing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87F2F-4C27-4209-B12F-29910EBC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The UI distinguishes missing, stale, and unavailable evidence instead of smoothing it over.</a:t>
            </a:r>
          </a:p>
        </p:txBody>
      </p:sp>
      <p:sp>
        <p:nvSpPr>
          <p:cNvPr id="8" name="claim-collector-failure">
            <a:extLst xmlns:a="http://schemas.openxmlformats.org/drawingml/2006/main">
              <a:ext uri="{FF2B5EF4-FFF2-40B4-BE49-F238E27FC236}">
                <a16:creationId xmlns:a16="http://schemas.microsoft.com/office/drawing/2014/main" id="{0625E90E-9594-4BF3-BFC9-21D0BE9F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50" y="2766060"/>
            <a:ext cx="5549900" cy="3009900"/>
          </a:xfrm>
          <a:prstGeom xmlns:a="http://schemas.openxmlformats.org/drawingml/2006/main" prst="roundRect">
            <a:avLst>
              <a:gd name="adj" fmla="val 3165"/>
            </a:avLst>
          </a:prstGeom>
          <a:solidFill xmlns:a="http://schemas.openxmlformats.org/drawingml/2006/main">
            <a:srgbClr val="FFF9F8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5D596-60CE-4053-8339-F60236D6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908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B8453C"/>
                </a:solidFill>
              </a:defRPr>
            </a:pPr>
            <a:r>
              <a:rPr sz="2175" b="1" i="0">
                <a:solidFill>
                  <a:srgbClr val="B8453C"/>
                </a:solidFill>
              </a:rPr>
              <a:t>Collector failure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0F2B8-597F-47C2-B36B-DAB3F80A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480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Adapter gaps and timeouts become warnings attached to the answer.</a:t>
            </a:r>
          </a:p>
        </p:txBody>
      </p:sp>
      <p:sp>
        <p:nvSpPr>
          <p:cNvPr id="11" name="claim-patient-switch">
            <a:extLst xmlns:a="http://schemas.openxmlformats.org/drawingml/2006/main">
              <a:ext uri="{FF2B5EF4-FFF2-40B4-BE49-F238E27FC236}">
                <a16:creationId xmlns:a16="http://schemas.microsoft.com/office/drawing/2014/main" id="{8EEF79D4-264F-465A-9C86-FB4E3504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2766060"/>
            <a:ext cx="5549900" cy="3009900"/>
          </a:xfrm>
          <a:prstGeom xmlns:a="http://schemas.openxmlformats.org/drawingml/2006/main" prst="roundRect">
            <a:avLst>
              <a:gd name="adj" fmla="val 3165"/>
            </a:avLst>
          </a:prstGeom>
          <a:solidFill xmlns:a="http://schemas.openxmlformats.org/drawingml/2006/main">
            <a:srgbClr val="FBFDFC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C9C59-7C36-4CD3-B3FE-DB659D3E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9908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D3B2E"/>
                </a:solidFill>
              </a:defRPr>
            </a:pPr>
            <a:r>
              <a:rPr sz="2175" b="1" i="0">
                <a:solidFill>
                  <a:srgbClr val="0D3B2E"/>
                </a:solidFill>
              </a:rPr>
              <a:t>Patient switch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057AB-5C44-4E4B-8244-0E70D9ED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4480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Clinical context is scoped to conversation_id + patient_id + encounter_id + evidence_bundle.</a:t>
            </a:r>
          </a:p>
        </p:txBody>
      </p:sp>
      <p:sp>
        <p:nvSpPr>
          <p:cNvPr id="14" name="claim-secrets">
            <a:extLst xmlns:a="http://schemas.openxmlformats.org/drawingml/2006/main">
              <a:ext uri="{FF2B5EF4-FFF2-40B4-BE49-F238E27FC236}">
                <a16:creationId xmlns:a16="http://schemas.microsoft.com/office/drawing/2014/main" id="{8DC4BC5B-03C6-4245-A80F-0068A96E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5960"/>
            <a:ext cx="5549900" cy="3009900"/>
          </a:xfrm>
          <a:prstGeom xmlns:a="http://schemas.openxmlformats.org/drawingml/2006/main" prst="roundRect">
            <a:avLst>
              <a:gd name="adj" fmla="val 3165"/>
            </a:avLst>
          </a:prstGeom>
          <a:solidFill xmlns:a="http://schemas.openxmlformats.org/drawingml/2006/main">
            <a:srgbClr val="F8FEFD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5B81D-5572-47CF-8C1B-3389F1B8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007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67C80"/>
                </a:solidFill>
              </a:defRPr>
            </a:pPr>
            <a:r>
              <a:rPr sz="2175" b="1" i="0">
                <a:solidFill>
                  <a:srgbClr val="167C80"/>
                </a:solidFill>
              </a:rPr>
              <a:t>Secrets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FF77F-E292-4C97-B29D-E0B672A8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579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API keys remain server-side; browser never sees sidecar or LLM credentials.</a:t>
            </a:r>
          </a:p>
        </p:txBody>
      </p:sp>
      <p:sp>
        <p:nvSpPr>
          <p:cNvPr id="17" name="claim-audit">
            <a:extLst xmlns:a="http://schemas.openxmlformats.org/drawingml/2006/main">
              <a:ext uri="{FF2B5EF4-FFF2-40B4-BE49-F238E27FC236}">
                <a16:creationId xmlns:a16="http://schemas.microsoft.com/office/drawing/2014/main" id="{C96D376A-FFCA-4846-BBA8-56014FEF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50" y="5775960"/>
            <a:ext cx="5549900" cy="3009900"/>
          </a:xfrm>
          <a:prstGeom xmlns:a="http://schemas.openxmlformats.org/drawingml/2006/main" prst="roundRect">
            <a:avLst>
              <a:gd name="adj" fmla="val 3165"/>
            </a:avLst>
          </a:prstGeom>
          <a:solidFill xmlns:a="http://schemas.openxmlformats.org/drawingml/2006/main">
            <a:srgbClr val="FBFDFC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B4E80E-34FC-462C-A2A8-9900957C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0007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D3B2E"/>
                </a:solidFill>
              </a:defRPr>
            </a:pPr>
            <a:r>
              <a:rPr sz="2175" b="1" i="0">
                <a:solidFill>
                  <a:srgbClr val="0D3B2E"/>
                </a:solidFill>
              </a:rPr>
              <a:t>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9F148-0F9A-4546-99E3-4A6EC177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4579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OpenEMR stores patient-linked actions; sidecar keeps PHI-safe technical traces only.</a:t>
            </a:r>
          </a:p>
        </p:txBody>
      </p:sp>
      <p:sp>
        <p:nvSpPr>
          <p:cNvPr id="20" name="claim-rollback">
            <a:extLst xmlns:a="http://schemas.openxmlformats.org/drawingml/2006/main">
              <a:ext uri="{FF2B5EF4-FFF2-40B4-BE49-F238E27FC236}">
                <a16:creationId xmlns:a16="http://schemas.microsoft.com/office/drawing/2014/main" id="{6A0FEEE8-6ECC-424E-97B6-BDC4E17B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5775960"/>
            <a:ext cx="5549900" cy="3009900"/>
          </a:xfrm>
          <a:prstGeom xmlns:a="http://schemas.openxmlformats.org/drawingml/2006/main" prst="roundRect">
            <a:avLst>
              <a:gd name="adj" fmla="val 3165"/>
            </a:avLst>
          </a:prstGeom>
          <a:solidFill xmlns:a="http://schemas.openxmlformats.org/drawingml/2006/main">
            <a:srgbClr val="FFF9F8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8BBABE-F602-4DEF-B2E2-3E85A011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0007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B8453C"/>
                </a:solidFill>
              </a:defRPr>
            </a:pPr>
            <a:r>
              <a:rPr sz="2175" b="1" i="0">
                <a:solidFill>
                  <a:srgbClr val="B8453C"/>
                </a:solidFill>
              </a:rPr>
              <a:t>Rollback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EEC1EB-1E12-4080-A144-C9D80A6A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579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Disable the module or route to mock/off mode without changing OpenEMR core.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DE56FB-E503-48A6-928A-ABD16128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44000"/>
            <a:ext cx="12287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D3B2E"/>
                </a:solidFill>
              </a:defRPr>
            </a:pPr>
            <a:r>
              <a:rPr sz="1800" b="1" i="0">
                <a:solidFill>
                  <a:srgbClr val="0D3B2E"/>
                </a:solidFill>
              </a:rPr>
              <a:t>Tests target schemas, verifier behavior, module-sidecar contracts, and smoke evals for dangerous failure modes.</a:t>
            </a:r>
          </a:p>
        </p:txBody>
      </p:sp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3626784-CB69-40A1-B623-43C3FCF6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2964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E8F89"/>
                </a:solidFill>
              </a:defRPr>
            </a:pPr>
            <a:r>
              <a:rPr sz="1500" b="1" i="0">
                <a:solidFill>
                  <a:srgbClr val="7E8F8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889533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50906675-3BE3-4551-9C5C-355BEE30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9DF3F47-7CAF-4D4B-BD73-21AD907D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7C80"/>
                </a:solidFill>
              </a:defRPr>
            </a:pPr>
            <a:r>
              <a:rPr sz="1500" b="1" i="0">
                <a:solidFill>
                  <a:srgbClr val="167C80"/>
                </a:solidFill>
              </a:rPr>
              <a:t>Defense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A4042E-C626-4A8F-B8FB-F7E32A45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1410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6231E"/>
                </a:solidFill>
              </a:defRPr>
            </a:pPr>
            <a:r>
              <a:rPr sz="4050" b="1" i="0">
                <a:solidFill>
                  <a:srgbClr val="16231E"/>
                </a:solidFill>
              </a:rPr>
              <a:t>This is not a chatbot bolted onto a chart. It is a constrained clinical evidence system.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45CB55-E9C2-4756-B308-74D00C4F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85534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D6D68"/>
                </a:solidFill>
              </a:defRPr>
            </a:pPr>
            <a:r>
              <a:rPr sz="2100" b="0" i="0">
                <a:solidFill>
                  <a:srgbClr val="5D6D68"/>
                </a:solidFill>
              </a:rPr>
              <a:t>The design is conservative because the domain deserves conservatism.</a:t>
            </a:r>
          </a:p>
        </p:txBody>
      </p:sp>
      <p:sp>
        <p:nvSpPr>
          <p:cNvPr id="5" name="claim-why-hybrid-">
            <a:extLst xmlns:a="http://schemas.openxmlformats.org/drawingml/2006/main">
              <a:ext uri="{FF2B5EF4-FFF2-40B4-BE49-F238E27FC236}">
                <a16:creationId xmlns:a16="http://schemas.microsoft.com/office/drawing/2014/main" id="{B636CF30-63D6-42D5-B6DA-9678F34E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0420"/>
            <a:ext cx="5549900" cy="4160520"/>
          </a:xfrm>
          <a:prstGeom xmlns:a="http://schemas.openxmlformats.org/drawingml/2006/main" prst="roundRect">
            <a:avLst>
              <a:gd name="adj" fmla="val 2289"/>
            </a:avLst>
          </a:prstGeom>
          <a:solidFill xmlns:a="http://schemas.openxmlformats.org/drawingml/2006/main">
            <a:srgbClr val="FBFDFC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5F3ED-7EF5-4407-8D10-80A177DC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D3B2E"/>
                </a:solidFill>
              </a:defRPr>
            </a:pPr>
            <a:r>
              <a:rPr sz="2175" b="1" i="0">
                <a:solidFill>
                  <a:srgbClr val="0D3B2E"/>
                </a:solidFill>
              </a:rPr>
              <a:t>Why hybrid?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0EC80-118E-4F32-AA65-6D8651F7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OpenEMR owns trust and audit; the sidecar owns model orchestration and verification.</a:t>
            </a:r>
          </a:p>
        </p:txBody>
      </p:sp>
      <p:sp>
        <p:nvSpPr>
          <p:cNvPr id="8" name="claim-why-openai-v1-">
            <a:extLst xmlns:a="http://schemas.openxmlformats.org/drawingml/2006/main">
              <a:ext uri="{FF2B5EF4-FFF2-40B4-BE49-F238E27FC236}">
                <a16:creationId xmlns:a16="http://schemas.microsoft.com/office/drawing/2014/main" id="{4D0AF2AA-0F9B-46D7-97A2-905BDB0F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50" y="3360420"/>
            <a:ext cx="5549900" cy="4160520"/>
          </a:xfrm>
          <a:prstGeom xmlns:a="http://schemas.openxmlformats.org/drawingml/2006/main" prst="roundRect">
            <a:avLst>
              <a:gd name="adj" fmla="val 2289"/>
            </a:avLst>
          </a:prstGeom>
          <a:solidFill xmlns:a="http://schemas.openxmlformats.org/drawingml/2006/main">
            <a:srgbClr val="F8FEFD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A2FB6-04AA-4C7D-BE7A-9AF08D58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8140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67C80"/>
                </a:solidFill>
              </a:defRPr>
            </a:pPr>
            <a:r>
              <a:rPr sz="2175" b="1" i="0">
                <a:solidFill>
                  <a:srgbClr val="167C80"/>
                </a:solidFill>
              </a:rPr>
              <a:t>Why OpenAI v1?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885F0-07DD-49DE-B5ED-A6E11A70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3860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Structured outputs support schema-first verification. We make no model-specific medical safety claim.</a:t>
            </a:r>
          </a:p>
        </p:txBody>
      </p:sp>
      <p:sp>
        <p:nvSpPr>
          <p:cNvPr id="11" name="claim-why-limited-scope-">
            <a:extLst xmlns:a="http://schemas.openxmlformats.org/drawingml/2006/main">
              <a:ext uri="{FF2B5EF4-FFF2-40B4-BE49-F238E27FC236}">
                <a16:creationId xmlns:a16="http://schemas.microsoft.com/office/drawing/2014/main" id="{54A83DA9-09BB-47DA-878C-4AE4D681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3360420"/>
            <a:ext cx="5549900" cy="4160520"/>
          </a:xfrm>
          <a:prstGeom xmlns:a="http://schemas.openxmlformats.org/drawingml/2006/main" prst="roundRect">
            <a:avLst>
              <a:gd name="adj" fmla="val 228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8A38B-B8A7-4DC5-8CCD-1EFCE3A9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58140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C7922B"/>
                </a:solidFill>
              </a:defRPr>
            </a:pPr>
            <a:r>
              <a:rPr sz="2175" b="1" i="0">
                <a:solidFill>
                  <a:srgbClr val="C7922B"/>
                </a:solidFill>
              </a:rPr>
              <a:t>Why limited scope?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3A7C1-D022-4F93-9258-01111A2F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03860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A safe rounding assistant is more defensible than a broad autonomous agent.</a:t>
            </a:r>
          </a:p>
        </p:txBody>
      </p:sp>
      <p:sp>
        <p:nvSpPr>
          <p:cNvPr id="14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7653D745-A7C9-4D85-A788-90B8347F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63840"/>
            <a:ext cx="16649700" cy="967740"/>
          </a:xfrm>
          <a:prstGeom xmlns:a="http://schemas.openxmlformats.org/drawingml/2006/main" prst="roundRect">
            <a:avLst>
              <a:gd name="adj" fmla="val 11811"/>
            </a:avLst>
          </a:prstGeom>
          <a:solidFill xmlns:a="http://schemas.openxmlformats.org/drawingml/2006/main">
            <a:srgbClr val="0D3B2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C47E4-E609-4F75-AA4C-B1269CDE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134350"/>
            <a:ext cx="16002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The product promise: say less, cite precisely, warn clearly, or refuse.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89609-F4C9-4E89-8C32-A39C1E45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82100"/>
            <a:ext cx="10191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D6D68"/>
                </a:solidFill>
              </a:defRPr>
            </a:pPr>
            <a:r>
              <a:rPr sz="1650" b="0" i="0">
                <a:solidFill>
                  <a:srgbClr val="5D6D68"/>
                </a:solidFill>
              </a:rPr>
              <a:t>Next iteration: eval-driven improvement of collectors, prompts, schemas, audit logs, and physician feedback.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E663D2A-98CF-486E-BC83-8300B222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3154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E8F89"/>
                </a:solidFill>
              </a:defRPr>
            </a:pPr>
            <a:r>
              <a:rPr sz="1500" b="1" i="0">
                <a:solidFill>
                  <a:srgbClr val="7E8F8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3383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2026-04-28T18:58:53.1500000Z</dcterms:created>
  <dcterms:modified xsi:type="dcterms:W3CDTF">2026-04-28T18:58:53.1500000Z</dcterms:modified>
</coreProperties>
</file>