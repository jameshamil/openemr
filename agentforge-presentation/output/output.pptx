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87f7224f2c47df" /><Relationship Type="http://schemas.openxmlformats.org/officeDocument/2006/relationships/extended-properties" Target="/docProps/app.xml" Id="R9536b933fab845c4" /><Relationship Type="http://schemas.openxmlformats.org/officeDocument/2006/relationships/officeDocument" Target="/ppt/presentation.xml" Id="R95803fddb65a46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83bf70ea884f5e"/>
  </p:sldMasterIdLst>
  <p:notesMasterIdLst>
    <p:notesMasterId xmlns:r="http://schemas.openxmlformats.org/officeDocument/2006/relationships" r:id="Reb01645a4c1341d9"/>
  </p:notesMasterIdLst>
  <p:sldIdLst>
    <p:sldId xmlns:r="http://schemas.openxmlformats.org/officeDocument/2006/relationships" id="256" r:id="R39e0048e14ef4d1e"/>
    <p:sldId xmlns:r="http://schemas.openxmlformats.org/officeDocument/2006/relationships" id="257" r:id="Rd591dea297ac49b5"/>
    <p:sldId xmlns:r="http://schemas.openxmlformats.org/officeDocument/2006/relationships" id="258" r:id="R39c22cf2c35f4979"/>
    <p:sldId xmlns:r="http://schemas.openxmlformats.org/officeDocument/2006/relationships" id="259" r:id="R796e197c9e0d42a3"/>
    <p:sldId xmlns:r="http://schemas.openxmlformats.org/officeDocument/2006/relationships" id="260" r:id="R6439886aa3a2446b"/>
    <p:sldId xmlns:r="http://schemas.openxmlformats.org/officeDocument/2006/relationships" id="261" r:id="R09cd074924e84276"/>
    <p:sldId xmlns:r="http://schemas.openxmlformats.org/officeDocument/2006/relationships" id="262" r:id="Rafd03f671f204cf0"/>
    <p:sldId xmlns:r="http://schemas.openxmlformats.org/officeDocument/2006/relationships" id="263" r:id="R37aa6addb0434e0d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3bf70ea884f5e" /><Relationship Type="http://schemas.openxmlformats.org/officeDocument/2006/relationships/theme" Target="/ppt/theme/theme1.xml" Id="R44123ac84ec64dd0" /><Relationship Type="http://schemas.openxmlformats.org/officeDocument/2006/relationships/notesMaster" Target="/ppt/notesMasters/notesMaster1.xml" Id="Reb01645a4c1341d9" /><Relationship Type="http://schemas.openxmlformats.org/officeDocument/2006/relationships/presProps" Target="/ppt/presProps.xml" Id="R1bd25cd3efae4aaa" /><Relationship Type="http://schemas.openxmlformats.org/officeDocument/2006/relationships/viewProps" Target="/ppt/viewProps.xml" Id="R0ca17e1f9df444cd" /><Relationship Type="http://schemas.openxmlformats.org/officeDocument/2006/relationships/tableStyles" Target="/ppt/tableStyles.xml" Id="Rcf4c54d2010e4b81" /><Relationship Type="http://schemas.openxmlformats.org/officeDocument/2006/relationships/slide" Target="/ppt/slides/slide1.xml" Id="R39e0048e14ef4d1e" /><Relationship Type="http://schemas.openxmlformats.org/officeDocument/2006/relationships/slide" Target="/ppt/slides/slide2.xml" Id="Rd591dea297ac49b5" /><Relationship Type="http://schemas.openxmlformats.org/officeDocument/2006/relationships/slide" Target="/ppt/slides/slide3.xml" Id="R39c22cf2c35f4979" /><Relationship Type="http://schemas.openxmlformats.org/officeDocument/2006/relationships/slide" Target="/ppt/slides/slide4.xml" Id="R796e197c9e0d42a3" /><Relationship Type="http://schemas.openxmlformats.org/officeDocument/2006/relationships/slide" Target="/ppt/slides/slide5.xml" Id="R6439886aa3a2446b" /><Relationship Type="http://schemas.openxmlformats.org/officeDocument/2006/relationships/slide" Target="/ppt/slides/slide6.xml" Id="R09cd074924e84276" /><Relationship Type="http://schemas.openxmlformats.org/officeDocument/2006/relationships/slide" Target="/ppt/slides/slide7.xml" Id="Rafd03f671f204cf0" /><Relationship Type="http://schemas.openxmlformats.org/officeDocument/2006/relationships/slide" Target="/ppt/slides/slide8.xml" Id="R37aa6addb0434e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88c79960e4449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19bfa1d48f4631" /><Relationship Type="http://schemas.openxmlformats.org/officeDocument/2006/relationships/notesMaster" Target="/ppt/notesMasters/notesMaster1.xml" Id="R21a5db4e8e9c43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e935022846440a" /><Relationship Type="http://schemas.openxmlformats.org/officeDocument/2006/relationships/notesMaster" Target="/ppt/notesMasters/notesMaster1.xml" Id="Rfeea440bba8746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c0b938b2de4176" /><Relationship Type="http://schemas.openxmlformats.org/officeDocument/2006/relationships/notesMaster" Target="/ppt/notesMasters/notesMaster1.xml" Id="Ra2e26d3f70514b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65e32142b54f18" /><Relationship Type="http://schemas.openxmlformats.org/officeDocument/2006/relationships/notesMaster" Target="/ppt/notesMasters/notesMaster1.xml" Id="R88d9ef09f25347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cd894fcd7d4a67" /><Relationship Type="http://schemas.openxmlformats.org/officeDocument/2006/relationships/notesMaster" Target="/ppt/notesMasters/notesMaster1.xml" Id="Rb9c9fce271284a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2e6c61434c4a25" /><Relationship Type="http://schemas.openxmlformats.org/officeDocument/2006/relationships/notesMaster" Target="/ppt/notesMasters/notesMaster1.xml" Id="R43237abddf9640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64518b306c46fd" /><Relationship Type="http://schemas.openxmlformats.org/officeDocument/2006/relationships/notesMaster" Target="/ppt/notesMasters/notesMaster1.xml" Id="Ra4cf926e559542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b52f0db13d40e5" /><Relationship Type="http://schemas.openxmlformats.org/officeDocument/2006/relationships/notesMaster" Target="/ppt/notesMasters/notesMaster1.xml" Id="Rb4c25596cd1941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this as a clinical safety architecture, not just an AI feature.</a:t>
            </a:r>
          </a:p>
          <a:p xmlns:a="http://schemas.openxmlformats.org/drawingml/2006/main">
            <a:r>
              <a:t>  The core idea is a hospitalist rounding assistant that helps prepare a patient-specific brief and answer follow-up questions, but only when every clinical claim is traceable back to OpenEMR evidence.</a:t>
            </a:r>
          </a:p>
          <a:p xmlns:a="http://schemas.openxmlformats.org/drawingml/2006/main">
            <a:r>
              <a:t>  The defense is about why we draw the trust boundary where we do, why the LLM is boxed in, and how failures become visible instead of hidden.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sets up the stakes.</a:t>
            </a:r>
          </a:p>
          <a:p xmlns:a="http://schemas.openxmlformats.org/drawingml/2006/main">
            <a:r>
              <a:t>  We are not building a general chatbot where the model can improvise from a giant chart dump.</a:t>
            </a:r>
          </a:p>
          <a:p xmlns:a="http://schemas.openxmlformats.org/drawingml/2006/main">
            <a:r>
              <a:t>  Hospitalists need quick orientation, but the output has to be auditable because even small unsupported claims can change a clinical decision.</a:t>
            </a:r>
          </a:p>
          <a:p xmlns:a="http://schemas.openxmlformats.org/drawingml/2006/main">
            <a:r>
              <a:t>  That is why the architecture is accuracy-first: partial verified answers with warnings are acceptable; fast unverifiable answers are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scope is deliberately tight.</a:t>
            </a:r>
          </a:p>
          <a:p xmlns:a="http://schemas.openxmlformats.org/drawingml/2006/main">
            <a:r>
              <a:t>  We picked one user and one workflow: a hospitalist getting ready for rounds.</a:t>
            </a:r>
          </a:p>
          <a:p xmlns:a="http://schemas.openxmlformats.org/drawingml/2006/main">
            <a:r>
              <a:t>  The system can summarize, answer follow-ups, and refuse or reframe unsafe treatment requests.</a:t>
            </a:r>
          </a:p>
          <a:p xmlns:a="http://schemas.openxmlformats.org/drawingml/2006/main">
            <a:r>
              <a:t>  It cannot write orders, invent a plan, or jump to another patient based on conversation.</a:t>
            </a:r>
          </a:p>
          <a:p xmlns:a="http://schemas.openxmlformats.org/drawingml/2006/main">
            <a:r>
              <a:t>  That narrowness is a feature: it gives us a stable safety case and a realistic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main architectural defense.</a:t>
            </a:r>
          </a:p>
          <a:p xmlns:a="http://schemas.openxmlformats.org/drawingml/2006/main">
            <a:r>
              <a:t>  We could have put everything in PHP, but that makes LLM orchestration and provider evolution awkward.</a:t>
            </a:r>
          </a:p>
          <a:p xmlns:a="http://schemas.openxmlformats.org/drawingml/2006/main">
            <a:r>
              <a:t>  We could have built a standalone agent, but that moves too much clinical authority outside OpenEMR.</a:t>
            </a:r>
          </a:p>
          <a:p xmlns:a="http://schemas.openxmlformats.org/drawingml/2006/main">
            <a:r>
              <a:t>  The hybrid design keeps OpenEMR responsible for identity, authorization, evidence collection, and patient-linked audit.</a:t>
            </a:r>
          </a:p>
          <a:p xmlns:a="http://schemas.openxmlformats.org/drawingml/2006/main">
            <a:r>
              <a:t>  The sidecar is powerful enough to structure and verify the response, but it is intentionally unable to browse the chart on its 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room through the request path.</a:t>
            </a:r>
          </a:p>
          <a:p xmlns:a="http://schemas.openxmlformats.org/drawingml/2006/main">
            <a:r>
              <a:t>  The browser never talks directly to the sidecar or the model.</a:t>
            </a:r>
          </a:p>
          <a:p xmlns:a="http://schemas.openxmlformats.org/drawingml/2006/main">
            <a:r>
              <a:t>  OpenEMR validates the user and patient, applies rate limiting, and assembles the evidence bundle.</a:t>
            </a:r>
          </a:p>
          <a:p xmlns:a="http://schemas.openxmlformats.org/drawingml/2006/main">
            <a:r>
              <a:t>  The sidecar then has one job: turn that bounded bundle into structured output and verify it.</a:t>
            </a:r>
          </a:p>
          <a:p xmlns:a="http://schemas.openxmlformats.org/drawingml/2006/main">
            <a:r>
              <a:t>  The important performance nuance is first useful response, not total chart exhaustion.</a:t>
            </a:r>
          </a:p>
          <a:p xmlns:a="http://schemas.openxmlformats.org/drawingml/2006/main">
            <a:r>
              <a:t>  If collection times out or an adapter is missing, the answer can still be partial, but the warning is explicit.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why the sidecar is more than a prompt wrapper.</a:t>
            </a:r>
          </a:p>
          <a:p xmlns:a="http://schemas.openxmlformats.org/drawingml/2006/main">
            <a:r>
              <a:t>  The model can generate a useful clinical narrative, but the verifier decides what is allowed to appear as a clinical claim.</a:t>
            </a:r>
          </a:p>
          <a:p xmlns:a="http://schemas.openxmlformats.org/drawingml/2006/main">
            <a:r>
              <a:t>  A citation label alone is too weak, because the model can cite the wrong thing.</a:t>
            </a:r>
          </a:p>
          <a:p xmlns:a="http://schemas.openxmlformats.org/drawingml/2006/main">
            <a:r>
              <a:t>  Our claim must map to a record type, field path or text span, value, and timestamp in the evidence bundle.</a:t>
            </a:r>
          </a:p>
          <a:p xmlns:a="http://schemas.openxmlformats.org/drawingml/2006/main">
            <a:r>
              <a:t>  If that proof is missing, the system either marks the answer partial, refuses, or fails visibly.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the practical engineering controls come together.</a:t>
            </a:r>
          </a:p>
          <a:p xmlns:a="http://schemas.openxmlformats.org/drawingml/2006/main">
            <a:r>
              <a:t>  Patient context resets on switch, because conversation memory cannot follow a clinician into a different chart.</a:t>
            </a:r>
          </a:p>
          <a:p xmlns:a="http://schemas.openxmlformats.org/drawingml/2006/main">
            <a:r>
              <a:t>  Secrets stay on the server side, and the browser never receives sidecar or LLM credentials.</a:t>
            </a:r>
          </a:p>
          <a:p xmlns:a="http://schemas.openxmlformats.org/drawingml/2006/main">
            <a:r>
              <a:t>  OpenEMR keeps the clinical audit trail, while the sidecar keeps only PHI-safe technical traces.</a:t>
            </a:r>
          </a:p>
          <a:p xmlns:a="http://schemas.openxmlformats.org/drawingml/2006/main">
            <a:r>
              <a:t>  The test plan mirrors the risk model: unsupported citation, missing data, prompt injection, unauthorized patient, and collector failure all need smoke evals.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restating the defense in one sentence: this is a constrained evidence system, not an autonomous clinician.</a:t>
            </a:r>
          </a:p>
          <a:p xmlns:a="http://schemas.openxmlformats.org/drawingml/2006/main">
            <a:r>
              <a:t>  The hybrid split is the key: OpenEMR remains the trusted clinical boundary, while the sidecar handles the parts that change quickly in the AI stack.</a:t>
            </a:r>
          </a:p>
          <a:p xmlns:a="http://schemas.openxmlformats.org/drawingml/2006/main">
            <a:r>
              <a:t>  OpenAI is the v1 provider because structured outputs help us enforce schemas, but the provider is abstracted and we are not claiming the model is medically safe on its own.</a:t>
            </a:r>
          </a:p>
          <a:p xmlns:a="http://schemas.openxmlformats.org/drawingml/2006/main">
            <a:r>
              <a:t>  The safety comes from bounded evidence, verification, explicit warnings, and human decision-making.</a:t>
            </a:r>
          </a:p>
          <a:p xmlns:a="http://schemas.openxmlformats.org/drawingml/2006/main">
            <a:r>
              <a:t>  End with the product promise: say less, cite precisely, warn clearly, or refuse.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f0e58174e8452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a129b5571b74a0d" /><Relationship Type="http://schemas.openxmlformats.org/officeDocument/2006/relationships/slideLayout" Target="/ppt/slideLayouts/slideLayout2.xml" Id="Rf32c6d814df54a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2c6d814df54a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a7551090ef4b3d" /><Relationship Type="http://schemas.openxmlformats.org/officeDocument/2006/relationships/notesSlide" Target="/ppt/notesSlides/notesSlide1.xml" Id="Reeb0de8364b640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6216352c744f69" /><Relationship Type="http://schemas.openxmlformats.org/officeDocument/2006/relationships/notesSlide" Target="/ppt/notesSlides/notesSlide2.xml" Id="R843ba0c2727245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66e0f9d89041ff" /><Relationship Type="http://schemas.openxmlformats.org/officeDocument/2006/relationships/notesSlide" Target="/ppt/notesSlides/notesSlide3.xml" Id="R2362b480610444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d302deaded4cab" /><Relationship Type="http://schemas.openxmlformats.org/officeDocument/2006/relationships/notesSlide" Target="/ppt/notesSlides/notesSlide4.xml" Id="Rb218882629e745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5a6028385d46db" /><Relationship Type="http://schemas.openxmlformats.org/officeDocument/2006/relationships/notesSlide" Target="/ppt/notesSlides/notesSlide5.xml" Id="R9de6039419eb43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4b0d3ed5774214" /><Relationship Type="http://schemas.openxmlformats.org/officeDocument/2006/relationships/notesSlide" Target="/ppt/notesSlides/notesSlide6.xml" Id="R6252d54401ba42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4db51123c6454d" /><Relationship Type="http://schemas.openxmlformats.org/officeDocument/2006/relationships/notesSlide" Target="/ppt/notesSlides/notesSlide7.xml" Id="R343064ce33764a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522d7acf844de3" /><Relationship Type="http://schemas.openxmlformats.org/officeDocument/2006/relationships/notesSlide" Target="/ppt/notesSlides/notesSlide8.xml" Id="R25038419e82848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5A324E74-82BF-44D3-BC37-B2268504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chip-agentforge-openemr">
            <a:extLst xmlns:a="http://schemas.openxmlformats.org/drawingml/2006/main">
              <a:ext uri="{FF2B5EF4-FFF2-40B4-BE49-F238E27FC236}">
                <a16:creationId xmlns:a16="http://schemas.microsoft.com/office/drawing/2014/main" id="{62A95842-E309-4FA0-A3FB-CF942687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2510028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5F0"/>
          </a:solidFill>
          <a:ln xmlns:a="http://schemas.openxmlformats.org/drawingml/2006/main" w="19050">
            <a:solidFill>
              <a:srgbClr val="0D3B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19602-B7E2-4E96-A32C-48218974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D3B2E"/>
                </a:solidFill>
              </a:defRPr>
            </a:pPr>
            <a:r>
              <a:rPr sz="1425" b="1" i="0">
                <a:solidFill>
                  <a:srgbClr val="0D3B2E"/>
                </a:solidFill>
              </a:rPr>
              <a:t>AgentForge + OpenEMR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B5402-2396-4286-9A8A-79201091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685800"/>
            <a:ext cx="2114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5D6D68"/>
                </a:solidFill>
              </a:defRPr>
            </a:pPr>
            <a:r>
              <a:rPr sz="1650" b="1" i="0">
                <a:solidFill>
                  <a:srgbClr val="5D6D68"/>
                </a:solidFill>
              </a:rPr>
              <a:t>Architecture Defense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C617D822-FF58-45CF-BB94-EA198C4B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63055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 i="0">
                <a:solidFill>
                  <a:srgbClr val="0D3B2E"/>
                </a:solidFill>
              </a:defRPr>
            </a:pPr>
            <a:r>
              <a:rPr sz="6450" b="1" i="0">
                <a:solidFill>
                  <a:srgbClr val="0D3B2E"/>
                </a:solidFill>
              </a:rPr>
              <a:t>Clinical Co-Pilot</a:t>
            </a:r>
          </a:p>
        </p:txBody>
      </p:sp>
      <p:sp>
        <p:nvSpPr>
          <p:cNvPr id="6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0EF621A4-7589-401C-A999-AA5AC6E0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8191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6231E"/>
                </a:solidFill>
              </a:defRPr>
            </a:pPr>
            <a:r>
              <a:rPr sz="2700" b="0" i="0">
                <a:solidFill>
                  <a:srgbClr val="16231E"/>
                </a:solidFill>
              </a:rPr>
              <a:t>A source-backed hospitalist rounding assistant inside OpenEMR</a:t>
            </a:r>
          </a:p>
        </p:txBody>
      </p:sp>
      <p:sp>
        <p:nvSpPr>
          <p:cNvPr id="7" name="title-rule">
            <a:extLst xmlns:a="http://schemas.openxmlformats.org/drawingml/2006/main">
              <a:ext uri="{FF2B5EF4-FFF2-40B4-BE49-F238E27FC236}">
                <a16:creationId xmlns:a16="http://schemas.microsoft.com/office/drawing/2014/main" id="{0FE3B1D2-F9EC-4D8E-B612-DE9E34E7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293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22B"/>
          </a:solidFill>
          <a:ln xmlns:a="http://schemas.openxmlformats.org/drawingml/2006/main" w="0">
            <a:solidFill>
              <a:srgbClr val="C792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37BBD-3796-4653-8270-E094606E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182100"/>
            <a:ext cx="2800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D6D68"/>
                </a:solidFill>
              </a:defRPr>
            </a:pPr>
            <a:r>
              <a:rPr sz="1650" b="0" i="0">
                <a:solidFill>
                  <a:srgbClr val="5D6D68"/>
                </a:solidFill>
              </a:rPr>
              <a:t>Five-minute technical defense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93F963B-20C2-4D11-8150-8EE7084C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4488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7E8F89"/>
                </a:solidFill>
              </a:defRPr>
            </a:pPr>
            <a:r>
              <a:rPr sz="1500" b="1" i="0">
                <a:solidFill>
                  <a:srgbClr val="7E8F89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205062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6EB2AD5E-B165-4459-9752-9E17D1AF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6FF405C-041B-4DB6-9DB0-9F9F742F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7C80"/>
                </a:solidFill>
              </a:defRPr>
            </a:pPr>
            <a:r>
              <a:rPr sz="1500" b="1" i="0">
                <a:solidFill>
                  <a:srgbClr val="167C80"/>
                </a:solidFill>
              </a:rPr>
              <a:t>Problem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D845DD-F6FF-4291-BA2D-82918960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35826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16231E"/>
                </a:solidFill>
              </a:defRPr>
            </a:pPr>
            <a:r>
              <a:rPr sz="4200" b="1" i="0">
                <a:solidFill>
                  <a:srgbClr val="16231E"/>
                </a:solidFill>
              </a:rPr>
              <a:t>The hard part is not generating text. It is earning trust under time pressure.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752FF1A-BB96-4AA6-A134-8D1DD728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2553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5D6D68"/>
                </a:solidFill>
              </a:defRPr>
            </a:pPr>
            <a:r>
              <a:rPr sz="2100" b="0" i="0">
                <a:solidFill>
                  <a:srgbClr val="5D6D68"/>
                </a:solidFill>
              </a:rPr>
              <a:t>Before rounds, clinicians need the right chart changes quickly. A fluent unsupported answer is worse than no answer.</a:t>
            </a:r>
          </a:p>
        </p:txBody>
      </p:sp>
      <p:sp>
        <p:nvSpPr>
          <p:cNvPr id="5" name="claim-time-pressure">
            <a:extLst xmlns:a="http://schemas.openxmlformats.org/drawingml/2006/main">
              <a:ext uri="{FF2B5EF4-FFF2-40B4-BE49-F238E27FC236}">
                <a16:creationId xmlns:a16="http://schemas.microsoft.com/office/drawing/2014/main" id="{C1F24CE0-7B96-4111-83F1-BFA88D65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1390"/>
            <a:ext cx="5549900" cy="5452110"/>
          </a:xfrm>
          <a:prstGeom xmlns:a="http://schemas.openxmlformats.org/drawingml/2006/main" prst="roundRect">
            <a:avLst>
              <a:gd name="adj" fmla="val 1747"/>
            </a:avLst>
          </a:prstGeom>
          <a:solidFill xmlns:a="http://schemas.openxmlformats.org/drawingml/2006/main">
            <a:srgbClr val="F8FEFD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4007D-45CA-405B-A3AD-B035D457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67C80"/>
                </a:solidFill>
              </a:defRPr>
            </a:pPr>
            <a:r>
              <a:rPr sz="2175" b="1" i="0">
                <a:solidFill>
                  <a:srgbClr val="167C80"/>
                </a:solidFill>
              </a:rPr>
              <a:t>Time pressure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D4713-BAFC-4656-9704-3BD57F8F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Rounds create a narrow window to absorb overnight notes, active meds, vitals, labs, and missing data.</a:t>
            </a:r>
          </a:p>
        </p:txBody>
      </p:sp>
      <p:sp>
        <p:nvSpPr>
          <p:cNvPr id="8" name="claim-chart-fragmentation">
            <a:extLst xmlns:a="http://schemas.openxmlformats.org/drawingml/2006/main">
              <a:ext uri="{FF2B5EF4-FFF2-40B4-BE49-F238E27FC236}">
                <a16:creationId xmlns:a16="http://schemas.microsoft.com/office/drawing/2014/main" id="{C576D341-37E2-4EF3-8F27-0026AFF5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050" y="3501390"/>
            <a:ext cx="5549900" cy="5452110"/>
          </a:xfrm>
          <a:prstGeom xmlns:a="http://schemas.openxmlformats.org/drawingml/2006/main" prst="roundRect">
            <a:avLst>
              <a:gd name="adj" fmla="val 1747"/>
            </a:avLst>
          </a:prstGeom>
          <a:solidFill xmlns:a="http://schemas.openxmlformats.org/drawingml/2006/main">
            <a:srgbClr val="FBFDFC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0E2C5-A7BD-4C09-8756-7A584499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3380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D3B2E"/>
                </a:solidFill>
              </a:defRPr>
            </a:pPr>
            <a:r>
              <a:rPr sz="2175" b="1" i="0">
                <a:solidFill>
                  <a:srgbClr val="0D3B2E"/>
                </a:solidFill>
              </a:rPr>
              <a:t>Chart fragmentation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4C6E8-A064-49EF-85FD-69DEADD7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7195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Relevant evidence lives across encounters, orders, notes, labs, and medication lists.</a:t>
            </a:r>
          </a:p>
        </p:txBody>
      </p:sp>
      <p:sp>
        <p:nvSpPr>
          <p:cNvPr id="11" name="claim-clinical-risk">
            <a:extLst xmlns:a="http://schemas.openxmlformats.org/drawingml/2006/main">
              <a:ext uri="{FF2B5EF4-FFF2-40B4-BE49-F238E27FC236}">
                <a16:creationId xmlns:a16="http://schemas.microsoft.com/office/drawing/2014/main" id="{3031EA81-B869-4EAD-8890-F34BB17D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950" y="3501390"/>
            <a:ext cx="5549900" cy="5452110"/>
          </a:xfrm>
          <a:prstGeom xmlns:a="http://schemas.openxmlformats.org/drawingml/2006/main" prst="roundRect">
            <a:avLst>
              <a:gd name="adj" fmla="val 1747"/>
            </a:avLst>
          </a:prstGeom>
          <a:solidFill xmlns:a="http://schemas.openxmlformats.org/drawingml/2006/main">
            <a:srgbClr val="FFF9F8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22D43-D050-45C5-8F8A-597B1D0E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73380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B8453C"/>
                </a:solidFill>
              </a:defRPr>
            </a:pPr>
            <a:r>
              <a:rPr sz="2175" b="1" i="0">
                <a:solidFill>
                  <a:srgbClr val="B8453C"/>
                </a:solidFill>
              </a:rPr>
              <a:t>Clinical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18575-8741-4176-8291-2F6203D4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17195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If the system cannot cite the record, warn about gaps, or refuse unsafe requests, it should not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1AAC6-EBD4-4E9F-9B2D-4B230FC7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91650"/>
            <a:ext cx="9696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D3B2E"/>
                </a:solidFill>
              </a:defRPr>
            </a:pPr>
            <a:r>
              <a:rPr sz="1875" b="1" i="0">
                <a:solidFill>
                  <a:srgbClr val="0D3B2E"/>
                </a:solidFill>
              </a:rPr>
              <a:t>Design target: help the physician decide faster without becoming the decision-maker.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181A6A4-2D63-442F-9CAE-3C8719B4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4297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7E8F89"/>
                </a:solidFill>
              </a:defRPr>
            </a:pPr>
            <a:r>
              <a:rPr sz="1500" b="1" i="0">
                <a:solidFill>
                  <a:srgbClr val="7E8F8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861171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CF3FDE2B-DD44-4285-A0FD-26A19BAA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2D36B5F4-2F51-4D05-B999-83F9C668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7C80"/>
                </a:solidFill>
              </a:defRPr>
            </a:pPr>
            <a:r>
              <a:rPr sz="1500" b="1" i="0">
                <a:solidFill>
                  <a:srgbClr val="167C80"/>
                </a:solidFill>
              </a:rPr>
              <a:t>V1 Scope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791BBC-0948-4AEA-B03C-A0E98FF7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03060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6231E"/>
                </a:solidFill>
              </a:defRPr>
            </a:pPr>
            <a:r>
              <a:rPr sz="3600" b="1" i="0">
                <a:solidFill>
                  <a:srgbClr val="16231E"/>
                </a:solidFill>
              </a:rPr>
              <a:t>Narrow user, narrow moment, narrow authority.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2345B9A-0166-4540-9A75-09459469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8401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D6D68"/>
                </a:solidFill>
              </a:defRPr>
            </a:pPr>
            <a:r>
              <a:rPr sz="1875" b="0" i="0">
                <a:solidFill>
                  <a:srgbClr val="5D6D68"/>
                </a:solidFill>
              </a:rPr>
              <a:t>The first version serves a hospitalist preparing for rounds on a selected patient.</a:t>
            </a:r>
          </a:p>
        </p:txBody>
      </p:sp>
      <p:sp>
        <p:nvSpPr>
          <p:cNvPr id="5" name="node-1-pre-round-brief">
            <a:extLst xmlns:a="http://schemas.openxmlformats.org/drawingml/2006/main">
              <a:ext uri="{FF2B5EF4-FFF2-40B4-BE49-F238E27FC236}">
                <a16:creationId xmlns:a16="http://schemas.microsoft.com/office/drawing/2014/main" id="{C8D40177-4462-4EED-88DF-14662C39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1830"/>
            <a:ext cx="5410200" cy="4663440"/>
          </a:xfrm>
          <a:prstGeom xmlns:a="http://schemas.openxmlformats.org/drawingml/2006/main" prst="roundRect">
            <a:avLst>
              <a:gd name="adj" fmla="val 1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297A3-F0E7-4167-9F9E-09DABE38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991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D3B2E"/>
                </a:solidFill>
              </a:defRPr>
            </a:pPr>
            <a:r>
              <a:rPr sz="1875" b="1" i="0">
                <a:solidFill>
                  <a:srgbClr val="0D3B2E"/>
                </a:solidFill>
              </a:rPr>
              <a:t>1. Pre-round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3E461-B07A-45D6-ADB6-D9748129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Retrieved chart summary for the selected patient, grounded in OpenEMR-collected evidence.</a:t>
            </a:r>
          </a:p>
        </p:txBody>
      </p:sp>
      <p:sp>
        <p:nvSpPr>
          <p:cNvPr id="8" name="node-2-follow-up-q-a">
            <a:extLst xmlns:a="http://schemas.openxmlformats.org/drawingml/2006/main">
              <a:ext uri="{FF2B5EF4-FFF2-40B4-BE49-F238E27FC236}">
                <a16:creationId xmlns:a16="http://schemas.microsoft.com/office/drawing/2014/main" id="{AA005B52-2EDA-4347-B0A7-C51BEE4F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11830"/>
            <a:ext cx="5410200" cy="4663440"/>
          </a:xfrm>
          <a:prstGeom xmlns:a="http://schemas.openxmlformats.org/drawingml/2006/main" prst="roundRect">
            <a:avLst>
              <a:gd name="adj" fmla="val 1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F08F1-9477-477E-887A-6AE956FE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991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67C80"/>
                </a:solidFill>
              </a:defRPr>
            </a:pPr>
            <a:r>
              <a:rPr sz="1875" b="1" i="0">
                <a:solidFill>
                  <a:srgbClr val="167C80"/>
                </a:solidFill>
              </a:rPr>
              <a:t>2. Follow-up Q&amp;A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0FB33-1238-48BA-8220-BFEC9899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5285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Patient-scoped questions about changes, meds, labs, notes, contradictions, or missing data.</a:t>
            </a:r>
          </a:p>
        </p:txBody>
      </p:sp>
      <p:sp>
        <p:nvSpPr>
          <p:cNvPr id="11" name="node-3-safe-refusal">
            <a:extLst xmlns:a="http://schemas.openxmlformats.org/drawingml/2006/main">
              <a:ext uri="{FF2B5EF4-FFF2-40B4-BE49-F238E27FC236}">
                <a16:creationId xmlns:a16="http://schemas.microsoft.com/office/drawing/2014/main" id="{CFD767CD-56B8-432F-B88A-FC3D6CB2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3211830"/>
            <a:ext cx="5410200" cy="4663440"/>
          </a:xfrm>
          <a:prstGeom xmlns:a="http://schemas.openxmlformats.org/drawingml/2006/main" prst="roundRect">
            <a:avLst>
              <a:gd name="adj" fmla="val 1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A703D-B554-40D2-80D6-E5C42FDD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390900"/>
            <a:ext cx="4991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B8453C"/>
                </a:solidFill>
              </a:defRPr>
            </a:pPr>
            <a:r>
              <a:rPr sz="1875" b="1" i="0">
                <a:solidFill>
                  <a:srgbClr val="B8453C"/>
                </a:solidFill>
              </a:rPr>
              <a:t>3. Safe refusal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A51C9-053E-49BF-9185-0222B85C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75285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Treatment requests are reframed as record-backed issues for physician review, not directives.</a:t>
            </a:r>
          </a:p>
        </p:txBody>
      </p:sp>
      <p:sp>
        <p:nvSpPr>
          <p:cNvPr id="14" name="scope-boundary">
            <a:extLst xmlns:a="http://schemas.openxmlformats.org/drawingml/2006/main">
              <a:ext uri="{FF2B5EF4-FFF2-40B4-BE49-F238E27FC236}">
                <a16:creationId xmlns:a16="http://schemas.microsoft.com/office/drawing/2014/main" id="{4E8C9BB9-AFF2-420A-8C0F-2D6F139B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41970"/>
            <a:ext cx="16649700" cy="906780"/>
          </a:xfrm>
          <a:prstGeom xmlns:a="http://schemas.openxmlformats.org/drawingml/2006/main" prst="roundRect">
            <a:avLst>
              <a:gd name="adj" fmla="val 9454"/>
            </a:avLst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B8CE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29DF6-6B92-4C38-86EB-E6A96ACF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324850"/>
            <a:ext cx="2362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D3B2E"/>
                </a:solidFill>
              </a:defRPr>
            </a:pPr>
            <a:r>
              <a:rPr sz="1725" b="1" i="0">
                <a:solidFill>
                  <a:srgbClr val="0D3B2E"/>
                </a:solidFill>
              </a:rPr>
              <a:t>Explicitly out of scope: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29943-C761-41E3-BB76-690FB5D5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458200"/>
            <a:ext cx="1358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6231E"/>
                </a:solidFill>
              </a:defRPr>
            </a:pPr>
            <a:r>
              <a:rPr sz="1725" b="0" i="0">
                <a:solidFill>
                  <a:srgbClr val="16231E"/>
                </a:solidFill>
              </a:rPr>
              <a:t>orders, diagnosis, treatment directives, hidden patient switching, and model-side chart retrieval.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F153B58-4AE3-4538-B58C-1D60F375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4488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7E8F89"/>
                </a:solidFill>
              </a:defRPr>
            </a:pPr>
            <a:r>
              <a:rPr sz="1500" b="1" i="0">
                <a:solidFill>
                  <a:srgbClr val="7E8F8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56024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80A98C11-72FB-4889-B4BD-428A4AE2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53A9C8A2-CD09-4460-B8C5-AB4385CB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7C80"/>
                </a:solidFill>
              </a:defRPr>
            </a:pPr>
            <a:r>
              <a:rPr sz="1500" b="1" i="0">
                <a:solidFill>
                  <a:srgbClr val="167C80"/>
                </a:solidFill>
              </a:rPr>
              <a:t>Architecture Choice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F81AEF-DDF8-40BA-90F2-B3F72425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26111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6231E"/>
                </a:solidFill>
              </a:defRPr>
            </a:pPr>
            <a:r>
              <a:rPr sz="3600" b="1" i="0">
                <a:solidFill>
                  <a:srgbClr val="16231E"/>
                </a:solidFill>
              </a:rPr>
              <a:t>OpenEMR stays the trusted clinical boundary. The sidecar stays a constrained evidence transformer.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6F20066-78CC-49D5-8C31-D48E1B69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5D6D68"/>
                </a:solidFill>
              </a:defRPr>
            </a:pPr>
            <a:r>
              <a:rPr sz="2100" b="0" i="0">
                <a:solidFill>
                  <a:srgbClr val="5D6D68"/>
                </a:solidFill>
              </a:rPr>
              <a:t>This is a hybrid architecture: PHP/OpenEMR owns authorization and collection; FastAPI owns orchestration, LLM calls, and verification.</a:t>
            </a:r>
          </a:p>
        </p:txBody>
      </p:sp>
      <p:sp>
        <p:nvSpPr>
          <p:cNvPr id="5" name="openemr-boundary">
            <a:extLst xmlns:a="http://schemas.openxmlformats.org/drawingml/2006/main">
              <a:ext uri="{FF2B5EF4-FFF2-40B4-BE49-F238E27FC236}">
                <a16:creationId xmlns:a16="http://schemas.microsoft.com/office/drawing/2014/main" id="{24AEF3CD-1CD8-4C54-B588-44E511CA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4210"/>
            <a:ext cx="876300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9050">
            <a:solidFill>
              <a:srgbClr val="9BB9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03E81-4A95-432A-8617-01BCDE8F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48050"/>
            <a:ext cx="819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D3B2E"/>
                </a:solidFill>
              </a:defRPr>
            </a:pPr>
            <a:r>
              <a:rPr sz="2550" b="1" i="0">
                <a:solidFill>
                  <a:srgbClr val="0D3B2E"/>
                </a:solidFill>
              </a:rPr>
              <a:t>OpenEMR module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A2B1A-A55D-4859-BDB0-7B038947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8191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6231E"/>
                </a:solidFill>
              </a:defRPr>
            </a:pPr>
            <a:r>
              <a:rPr sz="1800" b="0" i="0">
                <a:solidFill>
                  <a:srgbClr val="16231E"/>
                </a:solidFill>
              </a:rPr>
              <a:t>Authenticates user, enforces patient access, collects chart evidence, signs the bounded bundle, writes patient-linked audit.</a:t>
            </a:r>
          </a:p>
        </p:txBody>
      </p:sp>
      <p:sp>
        <p:nvSpPr>
          <p:cNvPr id="8" name="chip-authorization">
            <a:extLst xmlns:a="http://schemas.openxmlformats.org/drawingml/2006/main">
              <a:ext uri="{FF2B5EF4-FFF2-40B4-BE49-F238E27FC236}">
                <a16:creationId xmlns:a16="http://schemas.microsoft.com/office/drawing/2014/main" id="{386118A6-358D-4BD5-8C97-3D184883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70120"/>
            <a:ext cx="1555147" cy="407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D3B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2619E-7EF4-4DC3-AB2A-BFD5230B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577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D3B2E"/>
                </a:solidFill>
              </a:defRPr>
            </a:pPr>
            <a:r>
              <a:rPr sz="1425" b="1" i="0">
                <a:solidFill>
                  <a:srgbClr val="0D3B2E"/>
                </a:solidFill>
              </a:rPr>
              <a:t>authorization</a:t>
            </a:r>
          </a:p>
        </p:txBody>
      </p:sp>
      <p:sp>
        <p:nvSpPr>
          <p:cNvPr id="10" name="chip-collection">
            <a:extLst xmlns:a="http://schemas.openxmlformats.org/drawingml/2006/main">
              <a:ext uri="{FF2B5EF4-FFF2-40B4-BE49-F238E27FC236}">
                <a16:creationId xmlns:a16="http://schemas.microsoft.com/office/drawing/2014/main" id="{81DAEBB8-F178-4EBC-A892-3DB04B67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397" y="4770120"/>
            <a:ext cx="1263015" cy="407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D3B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42204-C785-438E-A6B7-90A07DC4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57750"/>
            <a:ext cx="838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D3B2E"/>
                </a:solidFill>
              </a:defRPr>
            </a:pPr>
            <a:r>
              <a:rPr sz="1425" b="1" i="0">
                <a:solidFill>
                  <a:srgbClr val="0D3B2E"/>
                </a:solidFill>
              </a:rPr>
              <a:t>collection</a:t>
            </a:r>
          </a:p>
        </p:txBody>
      </p:sp>
      <p:sp>
        <p:nvSpPr>
          <p:cNvPr id="12" name="chip-audit">
            <a:extLst xmlns:a="http://schemas.openxmlformats.org/drawingml/2006/main">
              <a:ext uri="{FF2B5EF4-FFF2-40B4-BE49-F238E27FC236}">
                <a16:creationId xmlns:a16="http://schemas.microsoft.com/office/drawing/2014/main" id="{E61592F4-5605-4CC9-97F0-12B0C6F0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762" y="4770120"/>
            <a:ext cx="851249" cy="624840"/>
          </a:xfrm>
          <a:prstGeom xmlns:a="http://schemas.openxmlformats.org/drawingml/2006/main" prst="roundRect">
            <a:avLst>
              <a:gd name="adj" fmla="val 33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D3B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9F3DA-5949-473F-9BA2-28F20BD4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57750"/>
            <a:ext cx="438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D3B2E"/>
                </a:solidFill>
              </a:defRPr>
            </a:pPr>
            <a:r>
              <a:rPr sz="1425" b="1" i="0">
                <a:solidFill>
                  <a:srgbClr val="0D3B2E"/>
                </a:solidFill>
              </a:rPr>
              <a:t>audit</a:t>
            </a:r>
          </a:p>
        </p:txBody>
      </p:sp>
      <p:sp>
        <p:nvSpPr>
          <p:cNvPr id="14" name="sidecar-boundary">
            <a:extLst xmlns:a="http://schemas.openxmlformats.org/drawingml/2006/main">
              <a:ext uri="{FF2B5EF4-FFF2-40B4-BE49-F238E27FC236}">
                <a16:creationId xmlns:a16="http://schemas.microsoft.com/office/drawing/2014/main" id="{E058BA33-4BD4-4C38-9DB6-EBFB5780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4210"/>
            <a:ext cx="788670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EF8F8"/>
          </a:solidFill>
          <a:ln xmlns:a="http://schemas.openxmlformats.org/drawingml/2006/main" w="19050">
            <a:solidFill>
              <a:srgbClr val="98CA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654CB-D262-41CB-99A6-884ED464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48050"/>
            <a:ext cx="7315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67C80"/>
                </a:solidFill>
              </a:defRPr>
            </a:pPr>
            <a:r>
              <a:rPr sz="2550" b="1" i="0">
                <a:solidFill>
                  <a:srgbClr val="167C80"/>
                </a:solidFill>
              </a:rPr>
              <a:t>FastAPI sidecar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82382-E8BF-45D3-BF5B-6A182313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38600"/>
            <a:ext cx="73152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6231E"/>
                </a:solidFill>
              </a:defRPr>
            </a:pPr>
            <a:r>
              <a:rPr sz="1800" b="0" i="0">
                <a:solidFill>
                  <a:srgbClr val="16231E"/>
                </a:solidFill>
              </a:rPr>
              <a:t>Receives only the signed RoundingContextBundle, calls OpenAI through an abstract provider, verifies every output claim, and returns status.</a:t>
            </a:r>
          </a:p>
        </p:txBody>
      </p:sp>
      <p:sp>
        <p:nvSpPr>
          <p:cNvPr id="17" name="chip-orchestration">
            <a:extLst xmlns:a="http://schemas.openxmlformats.org/drawingml/2006/main">
              <a:ext uri="{FF2B5EF4-FFF2-40B4-BE49-F238E27FC236}">
                <a16:creationId xmlns:a16="http://schemas.microsoft.com/office/drawing/2014/main" id="{9D0F73CF-1107-4D0B-8473-93CA3F9C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044440"/>
            <a:ext cx="1575340" cy="407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C8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0E97C4-DBD9-4E2E-8310-E04735F7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143500"/>
            <a:ext cx="116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67C80"/>
                </a:solidFill>
              </a:defRPr>
            </a:pPr>
            <a:r>
              <a:rPr sz="1425" b="1" i="0">
                <a:solidFill>
                  <a:srgbClr val="167C80"/>
                </a:solidFill>
              </a:rPr>
              <a:t>orchestration</a:t>
            </a:r>
          </a:p>
        </p:txBody>
      </p:sp>
      <p:sp>
        <p:nvSpPr>
          <p:cNvPr id="19" name="chip-llm">
            <a:extLst xmlns:a="http://schemas.openxmlformats.org/drawingml/2006/main">
              <a:ext uri="{FF2B5EF4-FFF2-40B4-BE49-F238E27FC236}">
                <a16:creationId xmlns:a16="http://schemas.microsoft.com/office/drawing/2014/main" id="{C11D7326-468F-4C73-824F-0C32A719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590" y="5044440"/>
            <a:ext cx="797814" cy="624840"/>
          </a:xfrm>
          <a:prstGeom xmlns:a="http://schemas.openxmlformats.org/drawingml/2006/main" prst="roundRect">
            <a:avLst>
              <a:gd name="adj" fmla="val 33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C8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0A52D-A8DB-49FC-A41F-8A0524B7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143500"/>
            <a:ext cx="381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67C80"/>
                </a:solidFill>
              </a:defRPr>
            </a:pPr>
            <a:r>
              <a:rPr sz="1425" b="1" i="0">
                <a:solidFill>
                  <a:srgbClr val="167C80"/>
                </a:solidFill>
              </a:rPr>
              <a:t>LLM</a:t>
            </a:r>
          </a:p>
        </p:txBody>
      </p:sp>
      <p:sp>
        <p:nvSpPr>
          <p:cNvPr id="21" name="chip-verification">
            <a:extLst xmlns:a="http://schemas.openxmlformats.org/drawingml/2006/main">
              <a:ext uri="{FF2B5EF4-FFF2-40B4-BE49-F238E27FC236}">
                <a16:creationId xmlns:a16="http://schemas.microsoft.com/office/drawing/2014/main" id="{8D35255F-FDA2-4B82-A42D-93DB4683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7754" y="5044440"/>
            <a:ext cx="1380839" cy="624840"/>
          </a:xfrm>
          <a:prstGeom xmlns:a="http://schemas.openxmlformats.org/drawingml/2006/main" prst="roundRect">
            <a:avLst>
              <a:gd name="adj" fmla="val 33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C8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7D748E-C756-45F4-94FA-1692065C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5143500"/>
            <a:ext cx="95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67C80"/>
                </a:solidFill>
              </a:defRPr>
            </a:pPr>
            <a:r>
              <a:rPr sz="1425" b="1" i="0">
                <a:solidFill>
                  <a:srgbClr val="167C80"/>
                </a:solidFill>
              </a:rPr>
              <a:t>verification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931579-E06C-4017-889A-5A533C66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144000"/>
            <a:ext cx="11525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B8453C"/>
                </a:solidFill>
              </a:defRPr>
            </a:pPr>
            <a:r>
              <a:rPr sz="1800" b="1" i="0">
                <a:solidFill>
                  <a:srgbClr val="B8453C"/>
                </a:solidFill>
              </a:rPr>
              <a:t>The sidecar has no DB credentials, no OpenEMR API token, and no callback tool to fetch more chart data.</a:t>
            </a:r>
          </a:p>
        </p:txBody>
      </p:sp>
      <p:sp>
        <p:nvSpPr>
          <p:cNvPr id="2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DBB0CB5-1138-43CB-9288-1138EBC8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2964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7E8F89"/>
                </a:solidFill>
              </a:defRPr>
            </a:pPr>
            <a:r>
              <a:rPr sz="1500" b="1" i="0">
                <a:solidFill>
                  <a:srgbClr val="7E8F8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977882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9D6C2824-CB2C-486A-87A4-00F5FF18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91A2E124-26EA-473C-9013-D50D3FA1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7C80"/>
                </a:solidFill>
              </a:defRPr>
            </a:pPr>
            <a:r>
              <a:rPr sz="1500" b="1" i="0">
                <a:solidFill>
                  <a:srgbClr val="167C80"/>
                </a:solidFill>
              </a:rPr>
              <a:t>Request Flow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4623EC-4517-47BC-AD17-73375862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3430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16231E"/>
                </a:solidFill>
              </a:defRPr>
            </a:pPr>
            <a:r>
              <a:rPr sz="3750" b="1" i="0">
                <a:solidFill>
                  <a:srgbClr val="16231E"/>
                </a:solidFill>
              </a:rPr>
              <a:t>The model only sees a bounded evidence bundle, never the whole chart.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7C8FB3B-450E-4E2D-ADA1-0E1051C0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849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5D6D68"/>
                </a:solidFill>
              </a:defRPr>
            </a:pPr>
            <a:r>
              <a:rPr sz="2100" b="0" i="0">
                <a:solidFill>
                  <a:srgbClr val="5D6D68"/>
                </a:solidFill>
              </a:rPr>
              <a:t>The response is useful early, but verification is never skipped for speed.</a:t>
            </a:r>
          </a:p>
        </p:txBody>
      </p:sp>
      <p:sp>
        <p:nvSpPr>
          <p:cNvPr id="5" name="node-browser-ui">
            <a:extLst xmlns:a="http://schemas.openxmlformats.org/drawingml/2006/main">
              <a:ext uri="{FF2B5EF4-FFF2-40B4-BE49-F238E27FC236}">
                <a16:creationId xmlns:a16="http://schemas.microsoft.com/office/drawing/2014/main" id="{01C57011-DED1-4DA8-8580-559653EA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3519488" cy="1466850"/>
          </a:xfrm>
          <a:prstGeom xmlns:a="http://schemas.openxmlformats.org/drawingml/2006/main" prst="roundRect">
            <a:avLst>
              <a:gd name="adj" fmla="val 5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3B607-577F-4353-9D1F-03CEE79E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6231E"/>
                </a:solidFill>
              </a:defRPr>
            </a:pPr>
            <a:r>
              <a:rPr sz="1875" b="1" i="0">
                <a:solidFill>
                  <a:srgbClr val="16231E"/>
                </a:solidFill>
              </a:rPr>
              <a:t>Browser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CACD4-96FA-4E44-A3C9-BABB3BF7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Hospitalist selects patient or asks a patient-scoped question.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37B93A57-77EB-41C8-9F39-69AEFD97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4335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7C80"/>
                </a:solidFill>
              </a:defRPr>
            </a:pPr>
            <a:r>
              <a:rPr sz="2250" b="1" i="0">
                <a:solidFill>
                  <a:srgbClr val="167C80"/>
                </a:solidFill>
              </a:rPr>
              <a:t>-&gt;</a:t>
            </a:r>
          </a:p>
        </p:txBody>
      </p:sp>
      <p:sp>
        <p:nvSpPr>
          <p:cNvPr id="9" name="node-openemr-module">
            <a:extLst xmlns:a="http://schemas.openxmlformats.org/drawingml/2006/main">
              <a:ext uri="{FF2B5EF4-FFF2-40B4-BE49-F238E27FC236}">
                <a16:creationId xmlns:a16="http://schemas.microsoft.com/office/drawing/2014/main" id="{A1026203-B64D-47BC-836A-BAC58067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888" y="3371850"/>
            <a:ext cx="3519488" cy="1466850"/>
          </a:xfrm>
          <a:prstGeom xmlns:a="http://schemas.openxmlformats.org/drawingml/2006/main" prst="roundRect">
            <a:avLst>
              <a:gd name="adj" fmla="val 5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B8A37-53AF-4F0C-B778-CA18041B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4330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D3B2E"/>
                </a:solidFill>
              </a:defRPr>
            </a:pPr>
            <a:r>
              <a:rPr sz="1875" b="1" i="0">
                <a:solidFill>
                  <a:srgbClr val="0D3B2E"/>
                </a:solidFill>
              </a:rPr>
              <a:t>OpenEMR module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32E2FB-5569-421C-9FDD-0380B4D3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052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Checks session, patient access, encounter scope, and rate limits.</a:t>
            </a:r>
          </a:p>
        </p:txBody>
      </p:sp>
      <p:sp>
        <p:nvSpPr>
          <p:cNvPr id="12" name="flow-arrow">
            <a:extLst xmlns:a="http://schemas.openxmlformats.org/drawingml/2006/main">
              <a:ext uri="{FF2B5EF4-FFF2-40B4-BE49-F238E27FC236}">
                <a16:creationId xmlns:a16="http://schemas.microsoft.com/office/drawing/2014/main" id="{5257A370-48BB-49D8-9F03-1CEAEF71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4335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7C80"/>
                </a:solidFill>
              </a:defRPr>
            </a:pPr>
            <a:r>
              <a:rPr sz="2250" b="1" i="0">
                <a:solidFill>
                  <a:srgbClr val="167C80"/>
                </a:solidFill>
              </a:rPr>
              <a:t>-&gt;</a:t>
            </a:r>
          </a:p>
        </p:txBody>
      </p:sp>
      <p:sp>
        <p:nvSpPr>
          <p:cNvPr id="13" name="node-collectors">
            <a:extLst xmlns:a="http://schemas.openxmlformats.org/drawingml/2006/main">
              <a:ext uri="{FF2B5EF4-FFF2-40B4-BE49-F238E27FC236}">
                <a16:creationId xmlns:a16="http://schemas.microsoft.com/office/drawing/2014/main" id="{464077A5-4E8B-4BF0-8DD8-2AF2DCF8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71850"/>
            <a:ext cx="3519488" cy="1466850"/>
          </a:xfrm>
          <a:prstGeom xmlns:a="http://schemas.openxmlformats.org/drawingml/2006/main" prst="roundRect">
            <a:avLst>
              <a:gd name="adj" fmla="val 5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C03B5-7D14-4C20-BC20-27D85118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4330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D3B2E"/>
                </a:solidFill>
              </a:defRPr>
            </a:pPr>
            <a:r>
              <a:rPr sz="1875" b="1" i="0">
                <a:solidFill>
                  <a:srgbClr val="0D3B2E"/>
                </a:solidFill>
              </a:rPr>
              <a:t>Collectors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07C2E-B233-4776-BBFD-FBEA8408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9052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Build bounded evidence from notes, meds, labs, vitals, orders, and gaps.</a:t>
            </a:r>
          </a:p>
        </p:txBody>
      </p:sp>
      <p:sp>
        <p:nvSpPr>
          <p:cNvPr id="16" name="flow-arrow">
            <a:extLst xmlns:a="http://schemas.openxmlformats.org/drawingml/2006/main">
              <a:ext uri="{FF2B5EF4-FFF2-40B4-BE49-F238E27FC236}">
                <a16:creationId xmlns:a16="http://schemas.microsoft.com/office/drawing/2014/main" id="{7054BE74-82D5-4F51-A20C-6F035356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94335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7C80"/>
                </a:solidFill>
              </a:defRPr>
            </a:pPr>
            <a:r>
              <a:rPr sz="2250" b="1" i="0">
                <a:solidFill>
                  <a:srgbClr val="167C80"/>
                </a:solidFill>
              </a:rPr>
              <a:t>-&gt;</a:t>
            </a:r>
          </a:p>
        </p:txBody>
      </p:sp>
      <p:sp>
        <p:nvSpPr>
          <p:cNvPr id="17" name="node-signed-bundle">
            <a:extLst xmlns:a="http://schemas.openxmlformats.org/drawingml/2006/main">
              <a:ext uri="{FF2B5EF4-FFF2-40B4-BE49-F238E27FC236}">
                <a16:creationId xmlns:a16="http://schemas.microsoft.com/office/drawing/2014/main" id="{063324C4-C452-47F4-9F53-AC417240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363" y="3371850"/>
            <a:ext cx="3519488" cy="1466850"/>
          </a:xfrm>
          <a:prstGeom xmlns:a="http://schemas.openxmlformats.org/drawingml/2006/main" prst="roundRect">
            <a:avLst>
              <a:gd name="adj" fmla="val 584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CF1BAF-160B-419A-876A-B4C82D93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354330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C7922B"/>
                </a:solidFill>
              </a:defRPr>
            </a:pPr>
            <a:r>
              <a:rPr sz="1875" b="1" i="0">
                <a:solidFill>
                  <a:srgbClr val="C7922B"/>
                </a:solidFill>
              </a:rPr>
              <a:t>Signed bundle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3B49E-D290-4B6B-9276-0C77E493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39052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conversation_id + patient_id + encounter_id + evidence_bundle.</a:t>
            </a:r>
          </a:p>
        </p:txBody>
      </p:sp>
      <p:sp>
        <p:nvSpPr>
          <p:cNvPr id="20" name="node-sidecar">
            <a:extLst xmlns:a="http://schemas.openxmlformats.org/drawingml/2006/main">
              <a:ext uri="{FF2B5EF4-FFF2-40B4-BE49-F238E27FC236}">
                <a16:creationId xmlns:a16="http://schemas.microsoft.com/office/drawing/2014/main" id="{D6865D0E-7C0B-429C-B554-51B29B33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76950"/>
            <a:ext cx="3519488" cy="1466850"/>
          </a:xfrm>
          <a:prstGeom xmlns:a="http://schemas.openxmlformats.org/drawingml/2006/main" prst="roundRect">
            <a:avLst>
              <a:gd name="adj" fmla="val 5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CA5865-634E-4FFB-AD00-D3849D93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4840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67C80"/>
                </a:solidFill>
              </a:defRPr>
            </a:pPr>
            <a:r>
              <a:rPr sz="1875" b="1" i="0">
                <a:solidFill>
                  <a:srgbClr val="167C80"/>
                </a:solidFill>
              </a:rPr>
              <a:t>Sidecar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B280C-D5F2-41AF-9B8B-8032BDF4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103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Single orchestrator. No multi-agent autonomy, no raw chart persistence.</a:t>
            </a:r>
          </a:p>
        </p:txBody>
      </p:sp>
      <p:sp>
        <p:nvSpPr>
          <p:cNvPr id="23" name="flow-arrow">
            <a:extLst xmlns:a="http://schemas.openxmlformats.org/drawingml/2006/main">
              <a:ext uri="{FF2B5EF4-FFF2-40B4-BE49-F238E27FC236}">
                <a16:creationId xmlns:a16="http://schemas.microsoft.com/office/drawing/2014/main" id="{93518410-A9BB-4635-8262-24170BE4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64845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7C80"/>
                </a:solidFill>
              </a:defRPr>
            </a:pPr>
            <a:r>
              <a:rPr sz="2250" b="1" i="0">
                <a:solidFill>
                  <a:srgbClr val="167C80"/>
                </a:solidFill>
              </a:rPr>
              <a:t>-&gt;</a:t>
            </a:r>
          </a:p>
        </p:txBody>
      </p:sp>
      <p:sp>
        <p:nvSpPr>
          <p:cNvPr id="24" name="node-openai-provider">
            <a:extLst xmlns:a="http://schemas.openxmlformats.org/drawingml/2006/main">
              <a:ext uri="{FF2B5EF4-FFF2-40B4-BE49-F238E27FC236}">
                <a16:creationId xmlns:a16="http://schemas.microsoft.com/office/drawing/2014/main" id="{90713310-94FB-45CB-9BA7-87286225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888" y="6076950"/>
            <a:ext cx="3519488" cy="1466850"/>
          </a:xfrm>
          <a:prstGeom xmlns:a="http://schemas.openxmlformats.org/drawingml/2006/main" prst="roundRect">
            <a:avLst>
              <a:gd name="adj" fmla="val 5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6FF1A9-495B-43A9-9E59-576AD645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24840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67C80"/>
                </a:solidFill>
              </a:defRPr>
            </a:pPr>
            <a:r>
              <a:rPr sz="1875" b="1" i="0">
                <a:solidFill>
                  <a:srgbClr val="167C80"/>
                </a:solidFill>
              </a:rPr>
              <a:t>OpenAI provider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C35ACF-AD4F-4548-BACE-7CD8A839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6103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Schema-first structured output; provider abstracted behind config.</a:t>
            </a:r>
          </a:p>
        </p:txBody>
      </p:sp>
      <p:sp>
        <p:nvSpPr>
          <p:cNvPr id="27" name="flow-arrow">
            <a:extLst xmlns:a="http://schemas.openxmlformats.org/drawingml/2006/main">
              <a:ext uri="{FF2B5EF4-FFF2-40B4-BE49-F238E27FC236}">
                <a16:creationId xmlns:a16="http://schemas.microsoft.com/office/drawing/2014/main" id="{71AFB3BB-7C44-4A5F-8000-27104E31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64845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7C80"/>
                </a:solidFill>
              </a:defRPr>
            </a:pPr>
            <a:r>
              <a:rPr sz="2250" b="1" i="0">
                <a:solidFill>
                  <a:srgbClr val="167C80"/>
                </a:solidFill>
              </a:rPr>
              <a:t>-&gt;</a:t>
            </a:r>
          </a:p>
        </p:txBody>
      </p:sp>
      <p:sp>
        <p:nvSpPr>
          <p:cNvPr id="28" name="node-verifier">
            <a:extLst xmlns:a="http://schemas.openxmlformats.org/drawingml/2006/main">
              <a:ext uri="{FF2B5EF4-FFF2-40B4-BE49-F238E27FC236}">
                <a16:creationId xmlns:a16="http://schemas.microsoft.com/office/drawing/2014/main" id="{21F55033-9C35-4223-B862-5891FB24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076950"/>
            <a:ext cx="3519488" cy="1466850"/>
          </a:xfrm>
          <a:prstGeom xmlns:a="http://schemas.openxmlformats.org/drawingml/2006/main" prst="roundRect">
            <a:avLst>
              <a:gd name="adj" fmla="val 5844"/>
            </a:avLst>
          </a:prstGeom>
          <a:solidFill xmlns:a="http://schemas.openxmlformats.org/drawingml/2006/main">
            <a:srgbClr val="FFF9F8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18C43F-DC02-4A07-8E21-10867DCE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24840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B8453C"/>
                </a:solidFill>
              </a:defRPr>
            </a:pPr>
            <a:r>
              <a:rPr sz="1875" b="1" i="0">
                <a:solidFill>
                  <a:srgbClr val="B8453C"/>
                </a:solidFill>
              </a:rPr>
              <a:t>Verifier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5FD8E1-DCBF-4DE1-A0EF-FD2E7623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6103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Claims must map back to specific evidence fields or spans.</a:t>
            </a:r>
          </a:p>
        </p:txBody>
      </p:sp>
      <p:sp>
        <p:nvSpPr>
          <p:cNvPr id="31" name="flow-arrow">
            <a:extLst xmlns:a="http://schemas.openxmlformats.org/drawingml/2006/main">
              <a:ext uri="{FF2B5EF4-FFF2-40B4-BE49-F238E27FC236}">
                <a16:creationId xmlns:a16="http://schemas.microsoft.com/office/drawing/2014/main" id="{EDD816C9-0825-44B7-AF4C-9929D0B2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6648450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7C80"/>
                </a:solidFill>
              </a:defRPr>
            </a:pPr>
            <a:r>
              <a:rPr sz="2250" b="1" i="0">
                <a:solidFill>
                  <a:srgbClr val="167C80"/>
                </a:solidFill>
              </a:rPr>
              <a:t>-&gt;</a:t>
            </a:r>
          </a:p>
        </p:txBody>
      </p:sp>
      <p:sp>
        <p:nvSpPr>
          <p:cNvPr id="32" name="node-ui-audit">
            <a:extLst xmlns:a="http://schemas.openxmlformats.org/drawingml/2006/main">
              <a:ext uri="{FF2B5EF4-FFF2-40B4-BE49-F238E27FC236}">
                <a16:creationId xmlns:a16="http://schemas.microsoft.com/office/drawing/2014/main" id="{F7C25672-2F49-4953-86D7-791CC734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363" y="6076950"/>
            <a:ext cx="3519488" cy="1466850"/>
          </a:xfrm>
          <a:prstGeom xmlns:a="http://schemas.openxmlformats.org/drawingml/2006/main" prst="roundRect">
            <a:avLst>
              <a:gd name="adj" fmla="val 5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24CB67-817B-433A-AFB7-FE8C7447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624840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D3B2E"/>
                </a:solidFill>
              </a:defRPr>
            </a:pPr>
            <a:r>
              <a:rPr sz="1875" b="1" i="0">
                <a:solidFill>
                  <a:srgbClr val="0D3B2E"/>
                </a:solidFill>
              </a:rPr>
              <a:t>UI + audit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FE0663-ADC6-49E7-9628-C181275B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66103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Verified, partial, refused, or failed response with warnings and citations.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870606-18C9-4F3C-989B-59D6D155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24850"/>
            <a:ext cx="1133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D3B2E"/>
                </a:solidFill>
              </a:defRPr>
            </a:pPr>
            <a:r>
              <a:rPr sz="1800" b="1" i="0">
                <a:solidFill>
                  <a:srgbClr val="0D3B2E"/>
                </a:solidFill>
              </a:rPr>
              <a:t>Timeouts return partial verified answers with warnings; they do not silently lower the evidence standard.</a:t>
            </a:r>
          </a:p>
        </p:txBody>
      </p:sp>
      <p:sp>
        <p:nvSpPr>
          <p:cNvPr id="3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4D16F0B-9B01-4484-8C2A-DCDC8E83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83439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7E8F89"/>
                </a:solidFill>
              </a:defRPr>
            </a:pPr>
            <a:r>
              <a:rPr sz="1500" b="1" i="0">
                <a:solidFill>
                  <a:srgbClr val="7E8F8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49921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B77F9695-286D-4520-9167-5ADF55B3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A779FFC5-50F0-4DC2-A953-1D0F4632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7C80"/>
                </a:solidFill>
              </a:defRPr>
            </a:pPr>
            <a:r>
              <a:rPr sz="1500" b="1" i="0">
                <a:solidFill>
                  <a:srgbClr val="167C80"/>
                </a:solidFill>
              </a:rPr>
              <a:t>Verification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8B011E-C32A-41AC-A85C-352592E8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26111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6231E"/>
                </a:solidFill>
              </a:defRPr>
            </a:pPr>
            <a:r>
              <a:rPr sz="3900" b="1" i="0">
                <a:solidFill>
                  <a:srgbClr val="16231E"/>
                </a:solidFill>
              </a:rPr>
              <a:t>Citations are not enough. Every clinical claim needs a source-bound proof.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77767D4-91DF-4312-8C38-9008D132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7029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5D6D68"/>
                </a:solidFill>
              </a:defRPr>
            </a:pPr>
            <a:r>
              <a:rPr sz="2100" b="0" i="0">
                <a:solidFill>
                  <a:srgbClr val="5D6D68"/>
                </a:solidFill>
              </a:rPr>
              <a:t>The verifier is deliberately stricter than the language model.</a:t>
            </a:r>
          </a:p>
        </p:txBody>
      </p:sp>
      <p:sp>
        <p:nvSpPr>
          <p:cNvPr id="5" name="claim-example">
            <a:extLst xmlns:a="http://schemas.openxmlformats.org/drawingml/2006/main">
              <a:ext uri="{FF2B5EF4-FFF2-40B4-BE49-F238E27FC236}">
                <a16:creationId xmlns:a16="http://schemas.microsoft.com/office/drawing/2014/main" id="{401692F4-7DC4-4390-A8E2-E9C7BDC7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5610"/>
            <a:ext cx="7744047" cy="6149340"/>
          </a:xfrm>
          <a:prstGeom xmlns:a="http://schemas.openxmlformats.org/drawingml/2006/main" prst="roundRect">
            <a:avLst>
              <a:gd name="adj" fmla="val 15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AB8C7-E58F-40FA-94EF-AF251FE3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7181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5D6D68"/>
                </a:solidFill>
              </a:defRPr>
            </a:pPr>
            <a:r>
              <a:rPr sz="1800" b="1" i="0">
                <a:solidFill>
                  <a:srgbClr val="5D6D68"/>
                </a:solidFill>
              </a:rPr>
              <a:t>Model proposes: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072AC-EC4B-4505-A5FE-1839BC46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71818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6231E"/>
                </a:solidFill>
              </a:defRPr>
            </a:pPr>
            <a:r>
              <a:rPr sz="2850" b="1" i="0">
                <a:solidFill>
                  <a:srgbClr val="16231E"/>
                </a:solidFill>
              </a:rPr>
              <a:t>Creatinine increased overnight and diuretics may need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5B83D-01BF-480A-A6F3-696B5A48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22B"/>
          </a:solidFill>
          <a:ln xmlns:a="http://schemas.openxmlformats.org/drawingml/2006/main" w="0">
            <a:solidFill>
              <a:srgbClr val="C792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F17F2-7A5C-43EE-8338-8406005C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91100"/>
            <a:ext cx="7181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0D3B2E"/>
                </a:solidFill>
              </a:defRPr>
            </a:pPr>
            <a:r>
              <a:rPr sz="1800" b="0" i="0">
                <a:solidFill>
                  <a:srgbClr val="0D3B2E"/>
                </a:solidFill>
              </a:rPr>
              <a:t>Verifier asks: where exactly in the bundle is each factual claim supported?</a:t>
            </a:r>
          </a:p>
        </p:txBody>
      </p:sp>
      <p:sp>
        <p:nvSpPr>
          <p:cNvPr id="10" name="node-evidence-pointer">
            <a:extLst xmlns:a="http://schemas.openxmlformats.org/drawingml/2006/main">
              <a:ext uri="{FF2B5EF4-FFF2-40B4-BE49-F238E27FC236}">
                <a16:creationId xmlns:a16="http://schemas.microsoft.com/office/drawing/2014/main" id="{17B34BF1-03F7-4DC7-8BF4-E9205944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197" y="2975610"/>
            <a:ext cx="8905653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A4D6C-3B64-4105-B2E3-57BC1F5C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847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D3B2E"/>
                </a:solidFill>
              </a:defRPr>
            </a:pPr>
            <a:r>
              <a:rPr sz="1875" b="1" i="0">
                <a:solidFill>
                  <a:srgbClr val="0D3B2E"/>
                </a:solidFill>
              </a:rPr>
              <a:t>Evidence pointer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8E854-89C2-47C3-A566-A298D238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05200"/>
            <a:ext cx="847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record_type, record_id, field path or text span, value, timestamp.</a:t>
            </a:r>
          </a:p>
        </p:txBody>
      </p:sp>
      <p:sp>
        <p:nvSpPr>
          <p:cNvPr id="13" name="node-status-contract">
            <a:extLst xmlns:a="http://schemas.openxmlformats.org/drawingml/2006/main">
              <a:ext uri="{FF2B5EF4-FFF2-40B4-BE49-F238E27FC236}">
                <a16:creationId xmlns:a16="http://schemas.microsoft.com/office/drawing/2014/main" id="{1AC15513-1E96-4908-B6CD-33321FC4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197" y="4213860"/>
            <a:ext cx="8905653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051DB-FF4E-496B-A5A9-E9BDBEDF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81500"/>
            <a:ext cx="847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67C80"/>
                </a:solidFill>
              </a:defRPr>
            </a:pPr>
            <a:r>
              <a:rPr sz="1875" b="1" i="0">
                <a:solidFill>
                  <a:srgbClr val="167C80"/>
                </a:solidFill>
              </a:rPr>
              <a:t>Status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A2B30-79C9-484A-A7FD-23B5FC2A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43450"/>
            <a:ext cx="847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verified, partial, refused, or failed.</a:t>
            </a:r>
          </a:p>
        </p:txBody>
      </p:sp>
      <p:sp>
        <p:nvSpPr>
          <p:cNvPr id="16" name="node-contradiction-surfacing">
            <a:extLst xmlns:a="http://schemas.openxmlformats.org/drawingml/2006/main">
              <a:ext uri="{FF2B5EF4-FFF2-40B4-BE49-F238E27FC236}">
                <a16:creationId xmlns:a16="http://schemas.microsoft.com/office/drawing/2014/main" id="{D0FC46D0-2AB9-483A-B148-7EA23F99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197" y="5452110"/>
            <a:ext cx="8905653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ADFC3F-9EAE-424E-897C-D9778FC5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619750"/>
            <a:ext cx="847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C7922B"/>
                </a:solidFill>
              </a:defRPr>
            </a:pPr>
            <a:r>
              <a:rPr sz="1875" b="1" i="0">
                <a:solidFill>
                  <a:srgbClr val="C7922B"/>
                </a:solidFill>
              </a:rPr>
              <a:t>Contradiction surfacing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E18D3-E1A6-4235-BFB7-E482F97D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981700"/>
            <a:ext cx="847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Conflicting notes or stale values are shown as uncertainty, not resolved by the model.</a:t>
            </a:r>
          </a:p>
        </p:txBody>
      </p:sp>
      <p:sp>
        <p:nvSpPr>
          <p:cNvPr id="19" name="node-prompt-injection-defense">
            <a:extLst xmlns:a="http://schemas.openxmlformats.org/drawingml/2006/main">
              <a:ext uri="{FF2B5EF4-FFF2-40B4-BE49-F238E27FC236}">
                <a16:creationId xmlns:a16="http://schemas.microsoft.com/office/drawing/2014/main" id="{BF5D295F-8CC1-48AA-AC1B-83D3D026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197" y="6690360"/>
            <a:ext cx="8905653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9F8"/>
          </a:solidFill>
          <a:ln xmlns:a="http://schemas.openxmlformats.org/drawingml/2006/main" w="14288">
            <a:solidFill>
              <a:srgbClr val="C9D7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B6AE0-7D0C-4003-BD9D-19AB1C58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858000"/>
            <a:ext cx="847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B8453C"/>
                </a:solidFill>
              </a:defRPr>
            </a:pPr>
            <a:r>
              <a:rPr sz="1875" b="1" i="0">
                <a:solidFill>
                  <a:srgbClr val="B8453C"/>
                </a:solidFill>
              </a:rPr>
              <a:t>Prompt injection defense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6BBB03-9B05-4CF4-9587-30FD1D0C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219950"/>
            <a:ext cx="847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D68"/>
                </a:solidFill>
              </a:defRPr>
            </a:pPr>
            <a:r>
              <a:rPr sz="1350" b="0" i="0">
                <a:solidFill>
                  <a:srgbClr val="5D6D68"/>
                </a:solidFill>
              </a:rPr>
              <a:t>Chart text is untrusted input; notes cannot override policy, scope, or verification rules.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B4D85AF-35B4-4BC2-8CC0-E982031F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4488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7E8F89"/>
                </a:solidFill>
              </a:defRPr>
            </a:pPr>
            <a:r>
              <a:rPr sz="1500" b="1" i="0">
                <a:solidFill>
                  <a:srgbClr val="7E8F8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2462168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2E996FBF-568B-48F7-9F05-3464CF7A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1F5B4BE-E5F5-4E34-A723-6051F373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7C80"/>
                </a:solidFill>
              </a:defRPr>
            </a:pPr>
            <a:r>
              <a:rPr sz="1500" b="1" i="0">
                <a:solidFill>
                  <a:srgbClr val="167C80"/>
                </a:solidFill>
              </a:rPr>
              <a:t>Reliability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0F44D2-B96D-4BEA-A977-2C10B06F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0629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16231E"/>
                </a:solidFill>
              </a:defRPr>
            </a:pPr>
            <a:r>
              <a:rPr sz="4200" b="1" i="0">
                <a:solidFill>
                  <a:srgbClr val="16231E"/>
                </a:solidFill>
              </a:rPr>
              <a:t>The architecture is designed to fail visibly.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B20E5F4-CA77-432D-AD84-C2B126FC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8343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5D6D68"/>
                </a:solidFill>
              </a:defRPr>
            </a:pPr>
            <a:r>
              <a:rPr sz="2100" b="0" i="0">
                <a:solidFill>
                  <a:srgbClr val="5D6D68"/>
                </a:solidFill>
              </a:rPr>
              <a:t>In clinical software, an honest warning is safer than a confident guess.</a:t>
            </a:r>
          </a:p>
        </p:txBody>
      </p:sp>
      <p:sp>
        <p:nvSpPr>
          <p:cNvPr id="5" name="claim-missing-data">
            <a:extLst xmlns:a="http://schemas.openxmlformats.org/drawingml/2006/main">
              <a:ext uri="{FF2B5EF4-FFF2-40B4-BE49-F238E27FC236}">
                <a16:creationId xmlns:a16="http://schemas.microsoft.com/office/drawing/2014/main" id="{0E4EF9C7-05C9-4F12-B5B3-D8C8452F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6060"/>
            <a:ext cx="5549900" cy="3009900"/>
          </a:xfrm>
          <a:prstGeom xmlns:a="http://schemas.openxmlformats.org/drawingml/2006/main" prst="roundRect">
            <a:avLst>
              <a:gd name="adj" fmla="val 31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D66EC-0A1C-4BDD-AC39-5D5A0A65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C7922B"/>
                </a:solidFill>
              </a:defRPr>
            </a:pPr>
            <a:r>
              <a:rPr sz="2175" b="1" i="0">
                <a:solidFill>
                  <a:srgbClr val="C7922B"/>
                </a:solidFill>
              </a:rPr>
              <a:t>Missing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4E27F-055B-4CBB-A375-AE710F34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The UI distinguishes missing, stale, and unavailable evidence instead of smoothing it over.</a:t>
            </a:r>
          </a:p>
        </p:txBody>
      </p:sp>
      <p:sp>
        <p:nvSpPr>
          <p:cNvPr id="8" name="claim-collector-failure">
            <a:extLst xmlns:a="http://schemas.openxmlformats.org/drawingml/2006/main">
              <a:ext uri="{FF2B5EF4-FFF2-40B4-BE49-F238E27FC236}">
                <a16:creationId xmlns:a16="http://schemas.microsoft.com/office/drawing/2014/main" id="{87C8EF16-9333-4E1B-BB99-E01B4D19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050" y="2766060"/>
            <a:ext cx="5549900" cy="3009900"/>
          </a:xfrm>
          <a:prstGeom xmlns:a="http://schemas.openxmlformats.org/drawingml/2006/main" prst="roundRect">
            <a:avLst>
              <a:gd name="adj" fmla="val 3165"/>
            </a:avLst>
          </a:prstGeom>
          <a:solidFill xmlns:a="http://schemas.openxmlformats.org/drawingml/2006/main">
            <a:srgbClr val="FFF9F8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C60E2-DCEC-437C-ADA2-FCA453B2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908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B8453C"/>
                </a:solidFill>
              </a:defRPr>
            </a:pPr>
            <a:r>
              <a:rPr sz="2175" b="1" i="0">
                <a:solidFill>
                  <a:srgbClr val="B8453C"/>
                </a:solidFill>
              </a:rPr>
              <a:t>Collector failure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C66BD-572A-4C2D-998B-24406A34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4805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Adapter gaps and timeouts become warnings attached to the answer.</a:t>
            </a:r>
          </a:p>
        </p:txBody>
      </p:sp>
      <p:sp>
        <p:nvSpPr>
          <p:cNvPr id="11" name="claim-patient-switch">
            <a:extLst xmlns:a="http://schemas.openxmlformats.org/drawingml/2006/main">
              <a:ext uri="{FF2B5EF4-FFF2-40B4-BE49-F238E27FC236}">
                <a16:creationId xmlns:a16="http://schemas.microsoft.com/office/drawing/2014/main" id="{3053D297-1EBB-4FE5-92D9-8B935D3B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950" y="2766060"/>
            <a:ext cx="5549900" cy="3009900"/>
          </a:xfrm>
          <a:prstGeom xmlns:a="http://schemas.openxmlformats.org/drawingml/2006/main" prst="roundRect">
            <a:avLst>
              <a:gd name="adj" fmla="val 3165"/>
            </a:avLst>
          </a:prstGeom>
          <a:solidFill xmlns:a="http://schemas.openxmlformats.org/drawingml/2006/main">
            <a:srgbClr val="FBFDFC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58E1D-6CB0-41C3-B45D-E2657933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9908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D3B2E"/>
                </a:solidFill>
              </a:defRPr>
            </a:pPr>
            <a:r>
              <a:rPr sz="2175" b="1" i="0">
                <a:solidFill>
                  <a:srgbClr val="0D3B2E"/>
                </a:solidFill>
              </a:rPr>
              <a:t>Patient switch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E4A03-BAA4-49B9-B5E2-2F5574C6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44805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Clinical context is scoped to conversation_id + patient_id + encounter_id + evidence_bundle.</a:t>
            </a:r>
          </a:p>
        </p:txBody>
      </p:sp>
      <p:sp>
        <p:nvSpPr>
          <p:cNvPr id="14" name="claim-secrets">
            <a:extLst xmlns:a="http://schemas.openxmlformats.org/drawingml/2006/main">
              <a:ext uri="{FF2B5EF4-FFF2-40B4-BE49-F238E27FC236}">
                <a16:creationId xmlns:a16="http://schemas.microsoft.com/office/drawing/2014/main" id="{EBBC05BC-1946-4415-A73A-FD591385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5960"/>
            <a:ext cx="5549900" cy="3009900"/>
          </a:xfrm>
          <a:prstGeom xmlns:a="http://schemas.openxmlformats.org/drawingml/2006/main" prst="roundRect">
            <a:avLst>
              <a:gd name="adj" fmla="val 3165"/>
            </a:avLst>
          </a:prstGeom>
          <a:solidFill xmlns:a="http://schemas.openxmlformats.org/drawingml/2006/main">
            <a:srgbClr val="F8FEFD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54CEA-E47A-422F-AA5E-4304629D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007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67C80"/>
                </a:solidFill>
              </a:defRPr>
            </a:pPr>
            <a:r>
              <a:rPr sz="2175" b="1" i="0">
                <a:solidFill>
                  <a:srgbClr val="167C80"/>
                </a:solidFill>
              </a:rPr>
              <a:t>Secrets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FCB7B-2D40-4087-8E74-D81A82DF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5795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API keys remain server-side; browser never sees sidecar or LLM credentials.</a:t>
            </a:r>
          </a:p>
        </p:txBody>
      </p:sp>
      <p:sp>
        <p:nvSpPr>
          <p:cNvPr id="17" name="claim-audit">
            <a:extLst xmlns:a="http://schemas.openxmlformats.org/drawingml/2006/main">
              <a:ext uri="{FF2B5EF4-FFF2-40B4-BE49-F238E27FC236}">
                <a16:creationId xmlns:a16="http://schemas.microsoft.com/office/drawing/2014/main" id="{3ABC4238-4D9C-416F-BD22-3A5D6838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050" y="5775960"/>
            <a:ext cx="5549900" cy="3009900"/>
          </a:xfrm>
          <a:prstGeom xmlns:a="http://schemas.openxmlformats.org/drawingml/2006/main" prst="roundRect">
            <a:avLst>
              <a:gd name="adj" fmla="val 3165"/>
            </a:avLst>
          </a:prstGeom>
          <a:solidFill xmlns:a="http://schemas.openxmlformats.org/drawingml/2006/main">
            <a:srgbClr val="FBFDFC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3F67E-E902-4D3E-83F6-B28AB9F4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0007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D3B2E"/>
                </a:solidFill>
              </a:defRPr>
            </a:pPr>
            <a:r>
              <a:rPr sz="2175" b="1" i="0">
                <a:solidFill>
                  <a:srgbClr val="0D3B2E"/>
                </a:solidFill>
              </a:rPr>
              <a:t>Audit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66D459-8059-4200-A94A-320C6EED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45795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OpenEMR stores patient-linked actions; sidecar keeps PHI-safe technical traces only.</a:t>
            </a:r>
          </a:p>
        </p:txBody>
      </p:sp>
      <p:sp>
        <p:nvSpPr>
          <p:cNvPr id="20" name="claim-rollback">
            <a:extLst xmlns:a="http://schemas.openxmlformats.org/drawingml/2006/main">
              <a:ext uri="{FF2B5EF4-FFF2-40B4-BE49-F238E27FC236}">
                <a16:creationId xmlns:a16="http://schemas.microsoft.com/office/drawing/2014/main" id="{4F54A602-F900-4066-BF26-B14C87E0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950" y="5775960"/>
            <a:ext cx="5549900" cy="3009900"/>
          </a:xfrm>
          <a:prstGeom xmlns:a="http://schemas.openxmlformats.org/drawingml/2006/main" prst="roundRect">
            <a:avLst>
              <a:gd name="adj" fmla="val 3165"/>
            </a:avLst>
          </a:prstGeom>
          <a:solidFill xmlns:a="http://schemas.openxmlformats.org/drawingml/2006/main">
            <a:srgbClr val="FFF9F8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2A0A3D-F227-428D-B82A-306C35BE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0007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B8453C"/>
                </a:solidFill>
              </a:defRPr>
            </a:pPr>
            <a:r>
              <a:rPr sz="2175" b="1" i="0">
                <a:solidFill>
                  <a:srgbClr val="B8453C"/>
                </a:solidFill>
              </a:rPr>
              <a:t>Rollback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1891F7-65B9-4529-98C5-089A2C45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5795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Disable the module or route to mock/off mode without changing OpenEMR core.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143195-FA0E-4205-9F7D-FF8207E1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144000"/>
            <a:ext cx="12287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D3B2E"/>
                </a:solidFill>
              </a:defRPr>
            </a:pPr>
            <a:r>
              <a:rPr sz="1800" b="1" i="0">
                <a:solidFill>
                  <a:srgbClr val="0D3B2E"/>
                </a:solidFill>
              </a:rPr>
              <a:t>Tests target schemas, verifier behavior, module-sidecar contracts, and smoke evals for dangerous failure modes.</a:t>
            </a:r>
          </a:p>
        </p:txBody>
      </p:sp>
      <p:sp>
        <p:nvSpPr>
          <p:cNvPr id="2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05D2AC9-2C09-4EAC-811C-CBAC042F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2964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7E8F89"/>
                </a:solidFill>
              </a:defRPr>
            </a:pPr>
            <a:r>
              <a:rPr sz="1500" b="1" i="0">
                <a:solidFill>
                  <a:srgbClr val="7E8F8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68731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D3224E7C-7C56-4F64-B662-790EF82A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CE876F73-3686-4ED0-A0B6-492FEA44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7C80"/>
                </a:solidFill>
              </a:defRPr>
            </a:pPr>
            <a:r>
              <a:rPr sz="1500" b="1" i="0">
                <a:solidFill>
                  <a:srgbClr val="167C80"/>
                </a:solidFill>
              </a:rPr>
              <a:t>Defense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79A2B7-6509-462F-83BF-BA0F7D60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1410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6231E"/>
                </a:solidFill>
              </a:defRPr>
            </a:pPr>
            <a:r>
              <a:rPr sz="4050" b="1" i="0">
                <a:solidFill>
                  <a:srgbClr val="16231E"/>
                </a:solidFill>
              </a:rPr>
              <a:t>This is not a chatbot bolted onto a chart. It is a constrained clinical evidence system.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BEC0832-98B0-4180-8E59-50D072E2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85534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5D6D68"/>
                </a:solidFill>
              </a:defRPr>
            </a:pPr>
            <a:r>
              <a:rPr sz="2100" b="0" i="0">
                <a:solidFill>
                  <a:srgbClr val="5D6D68"/>
                </a:solidFill>
              </a:rPr>
              <a:t>The design is conservative because the domain deserves conservatism.</a:t>
            </a:r>
          </a:p>
        </p:txBody>
      </p:sp>
      <p:sp>
        <p:nvSpPr>
          <p:cNvPr id="5" name="claim-why-hybrid-">
            <a:extLst xmlns:a="http://schemas.openxmlformats.org/drawingml/2006/main">
              <a:ext uri="{FF2B5EF4-FFF2-40B4-BE49-F238E27FC236}">
                <a16:creationId xmlns:a16="http://schemas.microsoft.com/office/drawing/2014/main" id="{2755EAFD-D638-48E5-8693-EEF24725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0420"/>
            <a:ext cx="5549900" cy="4160520"/>
          </a:xfrm>
          <a:prstGeom xmlns:a="http://schemas.openxmlformats.org/drawingml/2006/main" prst="roundRect">
            <a:avLst>
              <a:gd name="adj" fmla="val 2289"/>
            </a:avLst>
          </a:prstGeom>
          <a:solidFill xmlns:a="http://schemas.openxmlformats.org/drawingml/2006/main">
            <a:srgbClr val="FBFDFC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835F1-0F2B-4C9F-AAC2-3A6AA4C6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D3B2E"/>
                </a:solidFill>
              </a:defRPr>
            </a:pPr>
            <a:r>
              <a:rPr sz="2175" b="1" i="0">
                <a:solidFill>
                  <a:srgbClr val="0D3B2E"/>
                </a:solidFill>
              </a:rPr>
              <a:t>Why hybrid?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C3007-D09F-4ABC-A2F6-7BBADB25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OpenEMR owns trust and audit; the sidecar owns model orchestration and verification.</a:t>
            </a:r>
          </a:p>
        </p:txBody>
      </p:sp>
      <p:sp>
        <p:nvSpPr>
          <p:cNvPr id="8" name="claim-why-openai-v1-">
            <a:extLst xmlns:a="http://schemas.openxmlformats.org/drawingml/2006/main">
              <a:ext uri="{FF2B5EF4-FFF2-40B4-BE49-F238E27FC236}">
                <a16:creationId xmlns:a16="http://schemas.microsoft.com/office/drawing/2014/main" id="{2CEEE5D4-AE73-499D-A62C-A2A0ACB9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050" y="3360420"/>
            <a:ext cx="5549900" cy="4160520"/>
          </a:xfrm>
          <a:prstGeom xmlns:a="http://schemas.openxmlformats.org/drawingml/2006/main" prst="roundRect">
            <a:avLst>
              <a:gd name="adj" fmla="val 2289"/>
            </a:avLst>
          </a:prstGeom>
          <a:solidFill xmlns:a="http://schemas.openxmlformats.org/drawingml/2006/main">
            <a:srgbClr val="F8FEFD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1302E-11CC-4125-8305-8F66A407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8140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67C80"/>
                </a:solidFill>
              </a:defRPr>
            </a:pPr>
            <a:r>
              <a:rPr sz="2175" b="1" i="0">
                <a:solidFill>
                  <a:srgbClr val="167C80"/>
                </a:solidFill>
              </a:rPr>
              <a:t>Why OpenAI v1?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B9BF4-F97E-4629-B6D4-523CEE10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3860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Structured outputs support schema-first verification. We make no model-specific medical safety claim.</a:t>
            </a:r>
          </a:p>
        </p:txBody>
      </p:sp>
      <p:sp>
        <p:nvSpPr>
          <p:cNvPr id="11" name="claim-why-limited-scope-">
            <a:extLst xmlns:a="http://schemas.openxmlformats.org/drawingml/2006/main">
              <a:ext uri="{FF2B5EF4-FFF2-40B4-BE49-F238E27FC236}">
                <a16:creationId xmlns:a16="http://schemas.microsoft.com/office/drawing/2014/main" id="{EC1E4DCA-9647-47DA-B10C-E55ECC44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950" y="3360420"/>
            <a:ext cx="5549900" cy="4160520"/>
          </a:xfrm>
          <a:prstGeom xmlns:a="http://schemas.openxmlformats.org/drawingml/2006/main" prst="roundRect">
            <a:avLst>
              <a:gd name="adj" fmla="val 228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D287C-DBB7-4BC4-BC2A-01190C32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58140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C7922B"/>
                </a:solidFill>
              </a:defRPr>
            </a:pPr>
            <a:r>
              <a:rPr sz="2175" b="1" i="0">
                <a:solidFill>
                  <a:srgbClr val="C7922B"/>
                </a:solidFill>
              </a:rPr>
              <a:t>Why limited scope?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94364-513A-4F25-89D4-8DA76BC2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03860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D6D68"/>
                </a:solidFill>
              </a:defRPr>
            </a:pPr>
            <a:r>
              <a:rPr sz="1575" b="0" i="0">
                <a:solidFill>
                  <a:srgbClr val="5D6D68"/>
                </a:solidFill>
              </a:rPr>
              <a:t>A safe rounding assistant is more defensible than a broad autonomous agent.</a:t>
            </a:r>
          </a:p>
        </p:txBody>
      </p:sp>
      <p:sp>
        <p:nvSpPr>
          <p:cNvPr id="14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5926AA7D-7941-48F3-9652-6BD81D2F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63840"/>
            <a:ext cx="16649700" cy="967740"/>
          </a:xfrm>
          <a:prstGeom xmlns:a="http://schemas.openxmlformats.org/drawingml/2006/main" prst="roundRect">
            <a:avLst>
              <a:gd name="adj" fmla="val 11811"/>
            </a:avLst>
          </a:prstGeom>
          <a:solidFill xmlns:a="http://schemas.openxmlformats.org/drawingml/2006/main">
            <a:srgbClr val="0D3B2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6AFE5-1E9E-4D1F-8092-41BCFA0D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134350"/>
            <a:ext cx="16002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The product promise: say less, cite precisely, warn clearly, or refuse.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C4517-E471-4A4F-A992-5B5FB34B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182100"/>
            <a:ext cx="10191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D6D68"/>
                </a:solidFill>
              </a:defRPr>
            </a:pPr>
            <a:r>
              <a:rPr sz="1650" b="0" i="0">
                <a:solidFill>
                  <a:srgbClr val="5D6D68"/>
                </a:solidFill>
              </a:rPr>
              <a:t>Next iteration: eval-driven improvement of collectors, prompts, schemas, audit logs, and physician feedback.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4E9AC3D-DB4B-4B7E-9AB0-2F1962DE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3154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7E8F89"/>
                </a:solidFill>
              </a:defRPr>
            </a:pPr>
            <a:r>
              <a:rPr sz="1500" b="1" i="0">
                <a:solidFill>
                  <a:srgbClr val="7E8F8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33252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2026-04-28T19:01:45.3140000Z</dcterms:created>
  <dcterms:modified xsi:type="dcterms:W3CDTF">2026-04-28T19:01:45.3140000Z</dcterms:modified>
</coreProperties>
</file>